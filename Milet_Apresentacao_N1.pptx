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39B3D"/>
                </a:solidFill>
              </a:defRPr>
            </a:pPr>
            <a:r>
              <a:t>MILET · PROJETOS DE ENGENHARIA DA COMPUTAÇÃO I (2026.2)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858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7F3EA"/>
                </a:solidFill>
                <a:latin typeface="Georgia"/>
              </a:defRPr>
            </a:pPr>
            <a:r>
              <a:t>Milet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39B3D"/>
                </a:solidFill>
                <a:latin typeface="Georgia"/>
              </a:defRPr>
            </a:pPr>
            <a:r>
              <a:t>Plataforma digital para decisão, comparação e gestão contínua de energia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371600"/>
            <a:ext cx="3657600" cy="4114800"/>
          </a:xfrm>
          <a:prstGeom prst="roundRect">
            <a:avLst/>
          </a:prstGeom>
          <a:solidFill>
            <a:srgbClr val="222222"/>
          </a:solidFill>
          <a:ln w="19050"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55448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</a:defRPr>
            </a:pPr>
            <a:r>
              <a:t>TESE CENTRAL DE INVESTIGAÇÃO</a:t>
            </a:r>
          </a:p>
          <a:p>
            <a:pPr>
              <a:defRPr sz="1800" b="1">
                <a:solidFill>
                  <a:srgbClr val="F7F3EA"/>
                </a:solidFill>
                <a:latin typeface="Georgia"/>
              </a:defRPr>
            </a:pPr>
            <a:r>
              <a:t>O Propósito da Milet</a:t>
            </a:r>
          </a:p>
          <a:p>
            <a:br/>
            <a:pPr>
              <a:defRPr sz="1300" i="1">
                <a:solidFill>
                  <a:srgbClr val="F7F3EA"/>
                </a:solidFill>
              </a:defRPr>
            </a:pPr>
            <a:r>
              <a:t>"A Milet investiga como transformar uma decisão energética hoje fragmentada em uma jornada digital contínua, rastreável e comparável."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9B89F"/>
                </a:solidFill>
              </a:defRPr>
            </a:pPr>
            <a:r>
              <a:t>Universidade Presbiteriana Mackenzie · Engenharia da Computação · Turma 6</a:t>
            </a:r>
            <a:br/>
            <a:r>
              <a:t>Autor: Eduardo Ferreira de Mattos | Orientador: Prof. Dr. Rodrigo Juliani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  <a:latin typeface="Segoe UI"/>
              </a:defRPr>
            </a:pPr>
            <a:r>
              <a:t>• 02 · Motivação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F3EA"/>
                </a:solidFill>
                <a:latin typeface="Georgia"/>
              </a:defRPr>
            </a:pPr>
            <a:r>
              <a:t>Energia também pode ser uma decisão de contratação.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9B89F"/>
                </a:solidFill>
                <a:latin typeface="Segoe UI"/>
              </a:defRPr>
            </a:pPr>
            <a:r>
              <a:t>A transformação da relação comercial do consumidor sem alterar a infraestrutura física de distribuição.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3657600"/>
          </a:xfrm>
          <a:prstGeom prst="roundRect">
            <a:avLst/>
          </a:prstGeom>
          <a:solidFill>
            <a:srgbClr val="222222"/>
          </a:solidFill>
          <a:ln>
            <a:solidFill>
              <a:srgbClr val="7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7373"/>
                </a:solidFill>
              </a:defRPr>
            </a:pPr>
            <a:r>
              <a:t>MODELO PERCEBIDO PELO CONSUMIDOR</a:t>
            </a:r>
          </a:p>
          <a:p>
            <a:pPr>
              <a:defRPr sz="2000" b="1">
                <a:solidFill>
                  <a:srgbClr val="F7F3EA"/>
                </a:solidFill>
              </a:defRPr>
            </a:pPr>
            <a:r>
              <a:t>Passividade Tarifária</a:t>
            </a:r>
            <a:br/>
          </a:p>
          <a:p>
            <a:pPr>
              <a:defRPr sz="1300">
                <a:solidFill>
                  <a:srgbClr val="F7F3EA"/>
                </a:solidFill>
              </a:defRPr>
            </a:pPr>
            <a:r>
              <a:t>• Atendimento monopolista (Grupo B e Cativos)</a:t>
            </a:r>
            <a:br/>
            <a:r>
              <a:t>• Distribuidora ➔ Conta de Luz ➔ Pagamento Compulsório</a:t>
            </a:r>
            <a:br/>
            <a:r>
              <a:t>• Sem gestão comercial ativa ou transparência de opções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120640" cy="3657600"/>
          </a:xfrm>
          <a:prstGeom prst="roundRect">
            <a:avLst/>
          </a:prstGeom>
          <a:solidFill>
            <a:srgbClr val="222222"/>
          </a:solidFill>
          <a:ln w="19050"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</a:defRPr>
            </a:pPr>
            <a:r>
              <a:t>OPÇÕES DE CONTRATAÇÃO ELEGÍVEIS</a:t>
            </a:r>
          </a:p>
          <a:p>
            <a:pPr>
              <a:defRPr sz="2000" b="1">
                <a:solidFill>
                  <a:srgbClr val="F7F3EA"/>
                </a:solidFill>
              </a:defRPr>
            </a:pPr>
            <a:r>
              <a:t>Decisão Ativa de Mercado</a:t>
            </a:r>
            <a:br/>
          </a:p>
          <a:p>
            <a:pPr>
              <a:defRPr sz="1300">
                <a:solidFill>
                  <a:srgbClr val="F7F3EA"/>
                </a:solidFill>
              </a:defRPr>
            </a:pPr>
            <a:r>
              <a:t>✓ Escolher fornecedor no Mercado Livre (ACL)</a:t>
            </a:r>
            <a:br/>
            <a:r>
              <a:t>✓ Negociar condições comerciais, prazos e indexadores</a:t>
            </a:r>
            <a:br/>
            <a:r>
              <a:t>✓ Avaliar Geração Distribuída (GD), usina própria e consórcios</a:t>
            </a:r>
            <a:br/>
            <a:br/>
            <a:r>
              <a:t>Destaque Regulatório: Desde 2024, todos do Grupo A têm direito ao Mercado Livre.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39B3D"/>
                </a:solidFill>
              </a:defRPr>
            </a:pPr>
            <a:r>
              <a:t>Mensagem-Chave: A rede física continua sendo da distribuidora; o que muda é a relação comercial de contratação da energia.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  <a:latin typeface="Segoe UI"/>
              </a:defRPr>
            </a:pPr>
            <a:r>
              <a:t>• 03 · Problema Tratado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F3EA"/>
                </a:solidFill>
                <a:latin typeface="Georgia"/>
              </a:defRPr>
            </a:pPr>
            <a:r>
              <a:t>Ter escolha não significa saber escolher.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9B89F"/>
                </a:solidFill>
                <a:latin typeface="Segoe UI"/>
              </a:defRPr>
            </a:pPr>
            <a:r>
              <a:t>A sequência de fricções enfrentada pelo decisor PME e a preservação do contexto contínuo.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417320" cy="1645920"/>
          </a:xfrm>
          <a:prstGeom prst="roundRect">
            <a:avLst/>
          </a:prstGeom>
          <a:solidFill>
            <a:srgbClr val="222222"/>
          </a:solidFill>
          <a:ln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325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7F3EA"/>
                </a:solidFill>
              </a:defRPr>
            </a:pPr>
            <a:r>
              <a:t>1. Não sabe que pode escolher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011680"/>
            <a:ext cx="1417320" cy="1645920"/>
          </a:xfrm>
          <a:prstGeom prst="roundRect">
            <a:avLst/>
          </a:prstGeom>
          <a:solidFill>
            <a:srgbClr val="222222"/>
          </a:solidFill>
          <a:ln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2103120"/>
            <a:ext cx="1325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7F3EA"/>
                </a:solidFill>
              </a:defRPr>
            </a:pPr>
            <a:r>
              <a:t>2. Descobre alternativas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011680"/>
            <a:ext cx="1417320" cy="1645920"/>
          </a:xfrm>
          <a:prstGeom prst="roundRect">
            <a:avLst/>
          </a:prstGeom>
          <a:solidFill>
            <a:srgbClr val="222222"/>
          </a:solidFill>
          <a:ln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103120"/>
            <a:ext cx="1325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7F3EA"/>
                </a:solidFill>
              </a:defRPr>
            </a:pPr>
            <a:r>
              <a:t>3. Entende elegibilidade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59" y="2011680"/>
            <a:ext cx="1417320" cy="1645920"/>
          </a:xfrm>
          <a:prstGeom prst="roundRect">
            <a:avLst/>
          </a:prstGeom>
          <a:solidFill>
            <a:srgbClr val="222222"/>
          </a:solidFill>
          <a:ln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79" y="2103120"/>
            <a:ext cx="1325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7F3EA"/>
                </a:solidFill>
              </a:defRPr>
            </a:pPr>
            <a:r>
              <a:t>4. Encontra propostas difíceis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011680"/>
            <a:ext cx="1417320" cy="1645920"/>
          </a:xfrm>
          <a:prstGeom prst="roundRect">
            <a:avLst/>
          </a:prstGeom>
          <a:solidFill>
            <a:srgbClr val="222222"/>
          </a:solidFill>
          <a:ln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2103120"/>
            <a:ext cx="1325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7F3EA"/>
                </a:solidFill>
              </a:defRPr>
            </a:pPr>
            <a:r>
              <a:t>5. Compara riscos e prazos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011680"/>
            <a:ext cx="1417320" cy="1645920"/>
          </a:xfrm>
          <a:prstGeom prst="roundRect">
            <a:avLst/>
          </a:prstGeom>
          <a:solidFill>
            <a:srgbClr val="222222"/>
          </a:solidFill>
          <a:ln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103120"/>
            <a:ext cx="1325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7F3EA"/>
                </a:solidFill>
              </a:defRPr>
            </a:pPr>
            <a:r>
              <a:t>6. Executa a transição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2011680"/>
            <a:ext cx="1417320" cy="1645920"/>
          </a:xfrm>
          <a:prstGeom prst="roundRect">
            <a:avLst/>
          </a:prstGeom>
          <a:solidFill>
            <a:srgbClr val="222222"/>
          </a:solidFill>
          <a:ln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04120" y="2103120"/>
            <a:ext cx="1325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7F3EA"/>
                </a:solidFill>
              </a:defRPr>
            </a:pPr>
            <a:r>
              <a:t>7. Verifica a economia real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14800"/>
            <a:ext cx="10698480" cy="1645920"/>
          </a:xfrm>
          <a:prstGeom prst="roundRect">
            <a:avLst/>
          </a:prstGeom>
          <a:solidFill>
            <a:srgbClr val="222222"/>
          </a:solidFill>
          <a:ln w="19050"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39B3D"/>
                </a:solidFill>
              </a:defRPr>
            </a:pPr>
            <a:r>
              <a:t>Conclusão de Engenharia Milet:</a:t>
            </a:r>
          </a:p>
          <a:p>
            <a:br/>
            <a:pPr>
              <a:defRPr sz="1500" i="1">
                <a:solidFill>
                  <a:srgbClr val="F7F3EA"/>
                </a:solidFill>
              </a:defRPr>
            </a:pPr>
            <a:r>
              <a:t>"O problema da Milet não é apenas encontrar preço. É preservar o contexto contínuo entre dados, decisão, contratação e resultado final de economia."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  <a:latin typeface="Segoe UI"/>
              </a:defRPr>
            </a:pPr>
            <a:r>
              <a:t>• 04 · Estado da Arte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F3EA"/>
                </a:solidFill>
                <a:latin typeface="Georgia"/>
              </a:defRPr>
            </a:pPr>
            <a:r>
              <a:t>Mercado e Regulação: o terreno da comparação no Brasil.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9B89F"/>
                </a:solidFill>
                <a:latin typeface="Segoe UI"/>
              </a:defRPr>
            </a:pPr>
            <a:r>
              <a:t>A evolução dos ambientes de contratação e o papel da CCEE como infraestrutura de mercado.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60320" cy="3474720"/>
          </a:xfrm>
          <a:prstGeom prst="roundRect">
            <a:avLst/>
          </a:prstGeom>
          <a:solidFill>
            <a:srgbClr val="222222"/>
          </a:solidFill>
          <a:ln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39B3D"/>
                </a:solidFill>
              </a:defRPr>
            </a:pPr>
            <a:r>
              <a:t>Dualidade ACR vs ACL</a:t>
            </a:r>
          </a:p>
          <a:p>
            <a:br/>
            <a:pPr>
              <a:defRPr sz="1200">
                <a:solidFill>
                  <a:srgbClr val="F7F3EA"/>
                </a:solidFill>
              </a:defRPr>
            </a:pPr>
            <a:r>
              <a:t>Separação entre Mercado Cativo (tarifas reguladas da distribuidora) e Mercado Livre (contratos bilaterais).</a:t>
            </a:r>
          </a:p>
          <a:p>
            <a:br/>
            <a:pPr>
              <a:defRPr sz="1100" b="1">
                <a:solidFill>
                  <a:srgbClr val="C9B89F"/>
                </a:solidFill>
              </a:defRPr>
            </a:pPr>
            <a:r>
              <a:t>• Base do Motor de Elegibilidade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920240"/>
            <a:ext cx="2560320" cy="3474720"/>
          </a:xfrm>
          <a:prstGeom prst="roundRect">
            <a:avLst/>
          </a:prstGeom>
          <a:solidFill>
            <a:srgbClr val="222222"/>
          </a:solidFill>
          <a:ln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1168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39B3D"/>
                </a:solidFill>
              </a:defRPr>
            </a:pPr>
            <a:r>
              <a:t>Abertura do Grupo A (2024)</a:t>
            </a:r>
          </a:p>
          <a:p>
            <a:br/>
            <a:pPr>
              <a:defRPr sz="1200">
                <a:solidFill>
                  <a:srgbClr val="F7F3EA"/>
                </a:solidFill>
              </a:defRPr>
            </a:pPr>
            <a:r>
              <a:t>Todos os consumidores em Média/Alta Tensão ganharam o direito de migrar via varejistas.</a:t>
            </a:r>
          </a:p>
          <a:p>
            <a:br/>
            <a:pPr>
              <a:defRPr sz="1100" b="1">
                <a:solidFill>
                  <a:srgbClr val="C9B89F"/>
                </a:solidFill>
              </a:defRPr>
            </a:pPr>
            <a:r>
              <a:t>• Ampliação de Mercado PME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920240"/>
            <a:ext cx="2560320" cy="3474720"/>
          </a:xfrm>
          <a:prstGeom prst="roundRect">
            <a:avLst/>
          </a:prstGeom>
          <a:solidFill>
            <a:srgbClr val="222222"/>
          </a:solidFill>
          <a:ln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01168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39B3D"/>
                </a:solidFill>
              </a:defRPr>
            </a:pPr>
            <a:r>
              <a:t>Geração Distribuída (GD)</a:t>
            </a:r>
          </a:p>
          <a:p>
            <a:br/>
            <a:pPr>
              <a:defRPr sz="1200">
                <a:solidFill>
                  <a:srgbClr val="F7F3EA"/>
                </a:solidFill>
              </a:defRPr>
            </a:pPr>
            <a:r>
              <a:t>Consórcios e créditos de energia (Lei 14.300/22) operam em regramento paralelo ao ACL.</a:t>
            </a:r>
          </a:p>
          <a:p>
            <a:br/>
            <a:pPr>
              <a:defRPr sz="1100" b="1">
                <a:solidFill>
                  <a:srgbClr val="C9B89F"/>
                </a:solidFill>
              </a:defRPr>
            </a:pPr>
            <a:r>
              <a:t>• Comparação de Premissas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920240"/>
            <a:ext cx="2560320" cy="3474720"/>
          </a:xfrm>
          <a:prstGeom prst="roundRect">
            <a:avLst/>
          </a:prstGeom>
          <a:solidFill>
            <a:srgbClr val="222222"/>
          </a:solidFill>
          <a:ln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01168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39B3D"/>
                </a:solidFill>
              </a:defRPr>
            </a:pPr>
            <a:r>
              <a:t>Digitalização da CCEE</a:t>
            </a:r>
          </a:p>
          <a:p>
            <a:br/>
            <a:pPr>
              <a:defRPr sz="1200">
                <a:solidFill>
                  <a:srgbClr val="F7F3EA"/>
                </a:solidFill>
              </a:defRPr>
            </a:pPr>
            <a:r>
              <a:t>A CCEE avança na digitalização das migrações e planeja plataforma pública centralizada.</a:t>
            </a:r>
          </a:p>
          <a:p>
            <a:br/>
            <a:pPr>
              <a:defRPr sz="1100" b="1">
                <a:solidFill>
                  <a:srgbClr val="C9B89F"/>
                </a:solidFill>
              </a:defRPr>
            </a:pPr>
            <a:r>
              <a:t>• Infraestrutura Aberta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39B3D"/>
                </a:solidFill>
              </a:defRPr>
            </a:pPr>
            <a:r>
              <a:t>Tese Acadêmica: A Milet não deve ser defendida pela tese de que 'não existe comparador'. A comparação básica tende a se tornar infraestrutura.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  <a:latin typeface="Segoe UI"/>
              </a:defRPr>
            </a:pPr>
            <a:r>
              <a:t>• 05 · Estado da Arte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F3EA"/>
                </a:solidFill>
                <a:latin typeface="Georgia"/>
              </a:defRPr>
            </a:pPr>
            <a:r>
              <a:t>Mapeamento do mercado: soluções existentes e referências.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9B89F"/>
                </a:solidFill>
                <a:latin typeface="Segoe UI"/>
              </a:defRPr>
            </a:pPr>
            <a:r>
              <a:t>Matriz enxuta baseada estritamente nas referências documentadas no relatório N1.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731520"/>
          </a:xfrm>
          <a:prstGeom prst="roundRect">
            <a:avLst/>
          </a:prstGeom>
          <a:solidFill>
            <a:srgbClr val="222222"/>
          </a:solidFill>
          <a:ln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39B3D"/>
                </a:solidFill>
              </a:defRPr>
            </a:pPr>
            <a:r>
              <a:t>UC Livre (Marketplace + RFQ + Comparação)</a:t>
            </a:r>
          </a:p>
          <a:p>
            <a:pPr>
              <a:defRPr sz="1100">
                <a:solidFill>
                  <a:srgbClr val="F7F3EA"/>
                </a:solidFill>
              </a:defRPr>
            </a:pPr>
            <a:r>
              <a:t>Plataforma de cotação no mercado livre com leilão reverso e comparação de propostas.  |  Foco: Consumidores Grupo A / ACL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51760"/>
            <a:ext cx="10698480" cy="731520"/>
          </a:xfrm>
          <a:prstGeom prst="roundRect">
            <a:avLst/>
          </a:prstGeom>
          <a:solidFill>
            <a:srgbClr val="222222"/>
          </a:solidFill>
          <a:ln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39B3D"/>
                </a:solidFill>
              </a:defRPr>
            </a:pPr>
            <a:r>
              <a:t>Deskonta (Marketplace / Geração Distribuída)</a:t>
            </a:r>
          </a:p>
          <a:p>
            <a:pPr>
              <a:defRPr sz="1100">
                <a:solidFill>
                  <a:srgbClr val="F7F3EA"/>
                </a:solidFill>
              </a:defRPr>
            </a:pPr>
            <a:r>
              <a:t>Conexão direta entre consumidores e cooperativas/usinas de geração distribuída compartilhada.  |  Foco: Geração Distribuída (GD)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10698480" cy="731520"/>
          </a:xfrm>
          <a:prstGeom prst="roundRect">
            <a:avLst/>
          </a:prstGeom>
          <a:solidFill>
            <a:srgbClr val="222222"/>
          </a:solidFill>
          <a:ln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39B3D"/>
                </a:solidFill>
              </a:defRPr>
            </a:pPr>
            <a:r>
              <a:t>Energy Ogre (Gestão Recorrente de Contratação)</a:t>
            </a:r>
          </a:p>
          <a:p>
            <a:pPr>
              <a:defRPr sz="1100">
                <a:solidFill>
                  <a:srgbClr val="F7F3EA"/>
                </a:solidFill>
              </a:defRPr>
            </a:pPr>
            <a:r>
              <a:t>Concierge independente que busca, negocia e troca contratos de energia continuamente (EUA/Texas).  |  Foco: Gestão Recorrente Assinada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698480" cy="731520"/>
          </a:xfrm>
          <a:prstGeom prst="roundRect">
            <a:avLst/>
          </a:prstGeom>
          <a:solidFill>
            <a:srgbClr val="222222"/>
          </a:solidFill>
          <a:ln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434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39B3D"/>
                </a:solidFill>
              </a:defRPr>
            </a:pPr>
            <a:r>
              <a:t>EnergySage (Marketplace + Propostas Comparáveis)</a:t>
            </a:r>
          </a:p>
          <a:p>
            <a:pPr>
              <a:defRPr sz="1100">
                <a:solidFill>
                  <a:srgbClr val="F7F3EA"/>
                </a:solidFill>
              </a:defRPr>
            </a:pPr>
            <a:r>
              <a:t>Marketplace transparente de energia solar e eficiência com cotações padronizadas e neutras.  |  Foco: Comparação e Transparência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698480" cy="731520"/>
          </a:xfrm>
          <a:prstGeom prst="roundRect">
            <a:avLst/>
          </a:prstGeom>
          <a:solidFill>
            <a:srgbClr val="222222"/>
          </a:solidFill>
          <a:ln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39B3D"/>
                </a:solidFill>
              </a:defRPr>
            </a:pPr>
            <a:r>
              <a:t>CCEE (Infraestrutura de Mercado)</a:t>
            </a:r>
          </a:p>
          <a:p>
            <a:pPr>
              <a:defRPr sz="1100">
                <a:solidFill>
                  <a:srgbClr val="F7F3EA"/>
                </a:solidFill>
              </a:defRPr>
            </a:pPr>
            <a:r>
              <a:t>Contabilização, liquidação setorial e futura plataforma pública centralizada de comparação.  |  Foco: Infraestrutura Estatal Regulada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  <a:latin typeface="Segoe UI"/>
              </a:defRPr>
            </a:pPr>
            <a:r>
              <a:t>• 06 · Estado da Arte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F3EA"/>
                </a:solidFill>
                <a:latin typeface="Georgia"/>
              </a:defRPr>
            </a:pPr>
            <a:r>
              <a:t>A lacuna investigada: a integração contínua dos mecanismos.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9B89F"/>
                </a:solidFill>
                <a:latin typeface="Segoe UI"/>
              </a:defRPr>
            </a:pPr>
            <a:r>
              <a:t>Como os componentes isolados se unem em uma hipótese acadêmica de engenharia.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3840480"/>
          </a:xfrm>
          <a:prstGeom prst="roundRect">
            <a:avLst/>
          </a:prstGeom>
          <a:solidFill>
            <a:srgbClr val="222222"/>
          </a:solidFill>
          <a:ln w="25400"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39B3D"/>
                </a:solidFill>
              </a:defRPr>
            </a:pPr>
            <a:r>
              <a:t>INTEGRAÇÃO DOS MECANISMOS NA MILLET:</a:t>
            </a:r>
          </a:p>
          <a:p>
            <a:pPr>
              <a:defRPr sz="1300" b="1">
                <a:solidFill>
                  <a:srgbClr val="F7F3EA"/>
                </a:solidFill>
              </a:defRPr>
            </a:pPr>
            <a:r>
              <a:t>Passaporte Energético  ➔  Motor de Rotas  ➔  Comparação Normalizada  ➔  RFQ Reverso  ➔  Esteira de Execução  ➔  Savings Ledger  ➔  Reotimização Contínua</a:t>
            </a:r>
            <a:br/>
          </a:p>
          <a:p>
            <a:pPr>
              <a:defRPr sz="1800" i="1">
                <a:solidFill>
                  <a:srgbClr val="D39B3D"/>
                </a:solidFill>
                <a:latin typeface="Georgia"/>
              </a:defRPr>
            </a:pPr>
            <a:r>
              <a:t>Hipótese Acadêmica do Projeto:</a:t>
            </a:r>
            <a:br/>
            <a:r>
              <a:t>"Os componentes existem isoladamente. A hipótese acadêmica é testar a integração desses mecanismos em uma jornada contínua adequada ao contexto brasileiro."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  <a:latin typeface="Segoe UI"/>
              </a:defRPr>
            </a:pPr>
            <a:r>
              <a:t>• 07 · Plano de Projeto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F3EA"/>
                </a:solidFill>
                <a:latin typeface="Georgia"/>
              </a:defRPr>
            </a:pPr>
            <a:r>
              <a:t>Perfis e Proposta de Valor: Jobs, Pains e Gains.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9B89F"/>
                </a:solidFill>
                <a:latin typeface="Segoe UI"/>
              </a:defRPr>
            </a:pPr>
            <a:r>
              <a:t>Engenharia orientada a requisitos reais do Fibery, com destaque para o perfil prioritário Consumidor PME.</a:t>
            </a:r>
          </a:p>
        </p:txBody>
      </p:sp>
      <p:pic>
        <p:nvPicPr>
          <p:cNvPr id="5" name="Picture 4" descr="fibery-user-profiles-jobs-pains-ga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943600" cy="7810449"/>
          </a:xfrm>
          <a:prstGeom prst="rect">
            <a:avLst/>
          </a:prstGeom>
        </p:spPr>
      </p:pic>
      <p:pic>
        <p:nvPicPr>
          <p:cNvPr id="6" name="Picture 5" descr="fibery-value-proposition-canv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828800"/>
            <a:ext cx="4480560" cy="31066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438912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39B3D"/>
                </a:solidFill>
              </a:defRPr>
            </a:pPr>
            <a:r>
              <a:t>Perfis Prioritários:</a:t>
            </a:r>
          </a:p>
          <a:p>
            <a:pPr>
              <a:defRPr sz="1200">
                <a:solidFill>
                  <a:srgbClr val="F7F3EA"/>
                </a:solidFill>
              </a:defRPr>
            </a:pPr>
            <a:r>
              <a:t>1. Consumidor PME / Decisor Energético (UP-01)</a:t>
            </a:r>
            <a:br/>
            <a:r>
              <a:t>2. Fornecedores &amp; Comercializadoras (UP-03/04)</a:t>
            </a:r>
            <a:br/>
            <a:r>
              <a:t>3. Integradores EPC (UP-05)</a:t>
            </a:r>
            <a:br/>
            <a:r>
              <a:t>4. Operador Milet (UP-06)</a:t>
            </a:r>
            <a:br/>
            <a:br/>
            <a:r>
              <a:t>Nota: Perfis orientam requisitos e backlog.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  <a:latin typeface="Segoe UI"/>
              </a:defRPr>
            </a:pPr>
            <a:r>
              <a:t>• 08 · Plano de Projeto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F3EA"/>
                </a:solidFill>
                <a:latin typeface="Georgia"/>
              </a:defRPr>
            </a:pPr>
            <a:r>
              <a:t>Épicos, User Stories e a construção do MVP em Projetos 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9B89F"/>
                </a:solidFill>
                <a:latin typeface="Segoe UI"/>
              </a:defRPr>
            </a:pPr>
            <a:r>
              <a:t>A espinha dorsal das 28 User Stories e a entrega da primeira versão funcional no semestre atual.</a:t>
            </a:r>
          </a:p>
        </p:txBody>
      </p:sp>
      <p:pic>
        <p:nvPicPr>
          <p:cNvPr id="5" name="Picture 4" descr="fibery-epics-m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486400" cy="29200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39B3D"/>
                </a:solidFill>
              </a:defRPr>
            </a:pPr>
            <a:r>
              <a:t>FLUXO PRINCIPAL DO BACKLOG (28 STORIES):</a:t>
            </a:r>
          </a:p>
          <a:p>
            <a:pPr>
              <a:defRPr sz="1100">
                <a:solidFill>
                  <a:srgbClr val="F7F3EA"/>
                </a:solidFill>
              </a:defRPr>
            </a:pPr>
            <a:r>
              <a:t>• US-001: Descoberta / Elegibilidade</a:t>
            </a:r>
          </a:p>
          <a:p>
            <a:pPr>
              <a:defRPr sz="1100">
                <a:solidFill>
                  <a:srgbClr val="F7F3EA"/>
                </a:solidFill>
              </a:defRPr>
            </a:pPr>
            <a:r>
              <a:t>• US-002: Ingestão de Fatura</a:t>
            </a:r>
          </a:p>
          <a:p>
            <a:pPr>
              <a:defRPr sz="1100">
                <a:solidFill>
                  <a:srgbClr val="F7F3EA"/>
                </a:solidFill>
              </a:defRPr>
            </a:pPr>
            <a:r>
              <a:t>• US-006: Filtro de Rotas</a:t>
            </a:r>
          </a:p>
          <a:p>
            <a:pPr>
              <a:defRPr sz="1100">
                <a:solidFill>
                  <a:srgbClr val="F7F3EA"/>
                </a:solidFill>
              </a:defRPr>
            </a:pPr>
            <a:r>
              <a:t>• US-010: Disparo de RFQ</a:t>
            </a:r>
          </a:p>
          <a:p>
            <a:pPr>
              <a:defRPr sz="1100">
                <a:solidFill>
                  <a:srgbClr val="F7F3EA"/>
                </a:solidFill>
              </a:defRPr>
            </a:pPr>
            <a:r>
              <a:t>• US-013: Comparação Normalizada</a:t>
            </a:r>
          </a:p>
          <a:p>
            <a:pPr>
              <a:defRPr sz="1100">
                <a:solidFill>
                  <a:srgbClr val="F7F3EA"/>
                </a:solidFill>
              </a:defRPr>
            </a:pPr>
            <a:r>
              <a:t>• US-019: Esteira de Execução</a:t>
            </a:r>
          </a:p>
          <a:p>
            <a:pPr>
              <a:defRPr sz="1100">
                <a:solidFill>
                  <a:srgbClr val="F7F3EA"/>
                </a:solidFill>
              </a:defRPr>
            </a:pPr>
            <a:r>
              <a:t>• US-021: Auditoria de Economia</a:t>
            </a:r>
          </a:p>
          <a:p>
            <a:pPr>
              <a:defRPr sz="1100">
                <a:solidFill>
                  <a:srgbClr val="F7F3EA"/>
                </a:solidFill>
              </a:defRPr>
            </a:pPr>
            <a:r>
              <a:t>• US-027: Rastreabilidade / Audit</a:t>
            </a:r>
          </a:p>
          <a:p>
            <a:br/>
            <a:pPr>
              <a:defRPr sz="1200" b="1">
                <a:solidFill>
                  <a:srgbClr val="D39B3D"/>
                </a:solidFill>
              </a:defRPr>
            </a:pPr>
            <a:r>
              <a:t>Posicionamento Oficial do MVP em Projetos I:</a:t>
            </a:r>
            <a:br/>
            <a:r>
              <a:t>"Primeira versão funcional do fluxo prioritário construída no semestre atual, com integrações simuladas ou operação assistida quando necessário."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  <a:latin typeface="Segoe UI"/>
              </a:defRPr>
            </a:pPr>
            <a:r>
              <a:t>• 09 · Plano de Projeto (Épicos Ampliados)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F3EA"/>
                </a:solidFill>
                <a:latin typeface="Georgia"/>
              </a:defRPr>
            </a:pPr>
            <a:r>
              <a:t>Épicos do MVP: Visão Ampliada do Fibery Whiteboard.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9B89F"/>
                </a:solidFill>
                <a:latin typeface="Segoe UI"/>
              </a:defRPr>
            </a:pPr>
            <a:r>
              <a:t>Detalhamento visual de alta resolução para leitura precisa de cada épico e suas interconexões.</a:t>
            </a:r>
          </a:p>
        </p:txBody>
      </p:sp>
      <p:pic>
        <p:nvPicPr>
          <p:cNvPr id="5" name="Picture 4" descr="fibery-epics-mv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10698480" cy="56940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  <a:latin typeface="Segoe UI"/>
              </a:defRPr>
            </a:pPr>
            <a:r>
              <a:t>• 10 · Plano de Projeto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F3EA"/>
                </a:solidFill>
                <a:latin typeface="Georgia"/>
              </a:defRPr>
            </a:pPr>
            <a:r>
              <a:t>Business Model Canvas: hipóteses em validação.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9B89F"/>
                </a:solidFill>
                <a:latin typeface="Segoe UI"/>
              </a:defRPr>
            </a:pPr>
            <a:r>
              <a:t>O mapeamento estruturado do modelo de valor no Fibery sob a regra da Strategyzer.</a:t>
            </a:r>
          </a:p>
        </p:txBody>
      </p:sp>
      <p:pic>
        <p:nvPicPr>
          <p:cNvPr id="5" name="Picture 4" descr="fibery-bmc-v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943600" cy="45970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82880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39B3D"/>
                </a:solidFill>
              </a:defRPr>
            </a:pPr>
            <a:r>
              <a:t>Pilares Estruturais (Strategyzer):</a:t>
            </a:r>
          </a:p>
          <a:p>
            <a:br/>
            <a:pPr>
              <a:defRPr sz="1200">
                <a:solidFill>
                  <a:srgbClr val="F7F3EA"/>
                </a:solidFill>
              </a:defRPr>
            </a:pPr>
            <a:r>
              <a:t>• SEGMENTO PRIORITÁRIO:</a:t>
            </a:r>
            <a:br/>
            <a:r>
              <a:t>PMEs / Consumidores Empresariais (Grupo A e Grupo B comercial)</a:t>
            </a:r>
            <a:br/>
            <a:br/>
            <a:r>
              <a:t>• PROPOSTA DE VALOR CONTÍNUA:</a:t>
            </a:r>
            <a:br/>
            <a:r>
              <a:t>entender ➔ comparar ➔ competir ➔ executar ➔ acompanhar ➔ reotimizar</a:t>
            </a:r>
            <a:br/>
            <a:br/>
            <a:r>
              <a:t>• FONTE DE RECEITAS:</a:t>
            </a:r>
            <a:br/>
            <a:r>
              <a:t>Hipóteses de taxas de originação/concierge, ainda não validadas comercialmente.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  <a:latin typeface="Segoe UI"/>
              </a:defRPr>
            </a:pPr>
            <a:r>
              <a:t>• 11 · Cronograma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F3EA"/>
                </a:solidFill>
                <a:latin typeface="Georgia"/>
              </a:defRPr>
            </a:pPr>
            <a:r>
              <a:t>Cronograma Oficial: Projetos I (2026.2).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9B89F"/>
                </a:solidFill>
                <a:latin typeface="Segoe UI"/>
              </a:defRPr>
            </a:pPr>
            <a:r>
              <a:t>Datas oficiais e a entrega da primeira versão funcional do MVP no marco obrigatório de 19/10/2026.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417320" cy="2286000"/>
          </a:xfrm>
          <a:prstGeom prst="roundRect">
            <a:avLst/>
          </a:prstGeom>
          <a:solidFill>
            <a:srgbClr val="222222"/>
          </a:solidFill>
          <a:ln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39B3D"/>
                </a:solidFill>
              </a:defRPr>
            </a:pPr>
            <a:r>
              <a:t>10/08 – 20/09</a:t>
            </a:r>
          </a:p>
          <a:p>
            <a:br/>
            <a:pPr>
              <a:defRPr sz="1300" b="1">
                <a:solidFill>
                  <a:srgbClr val="F7F3EA"/>
                </a:solidFill>
              </a:defRPr>
            </a:pPr>
            <a:r>
              <a:t>Discovery</a:t>
            </a:r>
          </a:p>
          <a:p>
            <a:br/>
            <a:pPr>
              <a:defRPr sz="1000">
                <a:solidFill>
                  <a:srgbClr val="C9B89F"/>
                </a:solidFill>
              </a:defRPr>
            </a:pPr>
            <a:r>
              <a:t>Tema, problema, perfis e Estado da Arte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011680"/>
            <a:ext cx="1417320" cy="2286000"/>
          </a:xfrm>
          <a:prstGeom prst="roundRect">
            <a:avLst/>
          </a:prstGeom>
          <a:solidFill>
            <a:srgbClr val="222222"/>
          </a:solidFill>
          <a:ln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210312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39B3D"/>
                </a:solidFill>
              </a:defRPr>
            </a:pPr>
            <a:r>
              <a:t>21/09 – 28/09</a:t>
            </a:r>
          </a:p>
          <a:p>
            <a:br/>
            <a:pPr>
              <a:defRPr sz="1300" b="1">
                <a:solidFill>
                  <a:srgbClr val="F7F3EA"/>
                </a:solidFill>
              </a:defRPr>
            </a:pPr>
            <a:r>
              <a:t>Plano N1</a:t>
            </a:r>
          </a:p>
          <a:p>
            <a:br/>
            <a:pPr>
              <a:defRPr sz="1000">
                <a:solidFill>
                  <a:srgbClr val="C9B89F"/>
                </a:solidFill>
              </a:defRPr>
            </a:pPr>
            <a:r>
              <a:t>Plano de Projeto, Canvas, backlog e cronograma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011680"/>
            <a:ext cx="1417320" cy="2286000"/>
          </a:xfrm>
          <a:prstGeom prst="roundRect">
            <a:avLst/>
          </a:prstGeom>
          <a:solidFill>
            <a:srgbClr val="222222"/>
          </a:solidFill>
          <a:ln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10312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39B3D"/>
                </a:solidFill>
              </a:defRPr>
            </a:pPr>
            <a:r>
              <a:t>29/09 – 18/10</a:t>
            </a:r>
          </a:p>
          <a:p>
            <a:br/>
            <a:pPr>
              <a:defRPr sz="1300" b="1">
                <a:solidFill>
                  <a:srgbClr val="F7F3EA"/>
                </a:solidFill>
              </a:defRPr>
            </a:pPr>
            <a:r>
              <a:t>Construção MVP</a:t>
            </a:r>
          </a:p>
          <a:p>
            <a:br/>
            <a:pPr>
              <a:defRPr sz="1000">
                <a:solidFill>
                  <a:srgbClr val="C9B89F"/>
                </a:solidFill>
              </a:defRPr>
            </a:pPr>
            <a:r>
              <a:t>Construção da 1ª versão funcional do MVP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59" y="2011680"/>
            <a:ext cx="1417320" cy="2286000"/>
          </a:xfrm>
          <a:prstGeom prst="roundRect">
            <a:avLst/>
          </a:prstGeom>
          <a:solidFill>
            <a:srgbClr val="D39B3D"/>
          </a:solidFill>
          <a:ln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79" y="210312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1A1A"/>
                </a:solidFill>
              </a:defRPr>
            </a:pPr>
            <a:r>
              <a:t>19/10/2026</a:t>
            </a:r>
          </a:p>
          <a:p>
            <a:br/>
            <a:pPr>
              <a:defRPr sz="1300" b="1">
                <a:solidFill>
                  <a:srgbClr val="1A1A1A"/>
                </a:solidFill>
              </a:defRPr>
            </a:pPr>
            <a:r>
              <a:t>ENTREGA MVP</a:t>
            </a:r>
          </a:p>
          <a:p>
            <a:br/>
            <a:pPr>
              <a:defRPr sz="1000">
                <a:solidFill>
                  <a:srgbClr val="1A1A1A"/>
                </a:solidFill>
              </a:defRPr>
            </a:pPr>
            <a:r>
              <a:t>Apresentação e validação do MVP funcional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011680"/>
            <a:ext cx="1417320" cy="2286000"/>
          </a:xfrm>
          <a:prstGeom prst="roundRect">
            <a:avLst/>
          </a:prstGeom>
          <a:solidFill>
            <a:srgbClr val="222222"/>
          </a:solidFill>
          <a:ln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210312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39B3D"/>
                </a:solidFill>
              </a:defRPr>
            </a:pPr>
            <a:r>
              <a:t>26/10 em diante</a:t>
            </a:r>
          </a:p>
          <a:p>
            <a:br/>
            <a:pPr>
              <a:defRPr sz="1300" b="1">
                <a:solidFill>
                  <a:srgbClr val="F7F3EA"/>
                </a:solidFill>
              </a:defRPr>
            </a:pPr>
            <a:r>
              <a:t>SSDLC &amp; Seg.</a:t>
            </a:r>
          </a:p>
          <a:p>
            <a:br/>
            <a:pPr>
              <a:defRPr sz="1000">
                <a:solidFill>
                  <a:srgbClr val="C9B89F"/>
                </a:solidFill>
              </a:defRPr>
            </a:pPr>
            <a:r>
              <a:t>SSDLC, segurança e conformidade LGPD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011680"/>
            <a:ext cx="1417320" cy="2286000"/>
          </a:xfrm>
          <a:prstGeom prst="roundRect">
            <a:avLst/>
          </a:prstGeom>
          <a:solidFill>
            <a:srgbClr val="222222"/>
          </a:solidFill>
          <a:ln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10312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39B3D"/>
                </a:solidFill>
              </a:defRPr>
            </a:pPr>
            <a:r>
              <a:t>09/11 em diante</a:t>
            </a:r>
          </a:p>
          <a:p>
            <a:br/>
            <a:pPr>
              <a:defRPr sz="1300" b="1">
                <a:solidFill>
                  <a:srgbClr val="F7F3EA"/>
                </a:solidFill>
              </a:defRPr>
            </a:pPr>
            <a:r>
              <a:t>Testes &amp; Valid.</a:t>
            </a:r>
          </a:p>
          <a:p>
            <a:br/>
            <a:pPr>
              <a:defRPr sz="1000">
                <a:solidFill>
                  <a:srgbClr val="C9B89F"/>
                </a:solidFill>
              </a:defRPr>
            </a:pPr>
            <a:r>
              <a:t>Hipóteses, testes e validação empírica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2011680"/>
            <a:ext cx="1417320" cy="2286000"/>
          </a:xfrm>
          <a:prstGeom prst="roundRect">
            <a:avLst/>
          </a:prstGeom>
          <a:solidFill>
            <a:srgbClr val="222222"/>
          </a:solidFill>
          <a:ln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04120" y="2103120"/>
            <a:ext cx="1325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39B3D"/>
                </a:solidFill>
              </a:defRPr>
            </a:pPr>
            <a:r>
              <a:t>23/11 &amp; 07/12</a:t>
            </a:r>
          </a:p>
          <a:p>
            <a:br/>
            <a:pPr>
              <a:defRPr sz="1300" b="1">
                <a:solidFill>
                  <a:srgbClr val="F7F3EA"/>
                </a:solidFill>
              </a:defRPr>
            </a:pPr>
            <a:r>
              <a:t>Fechamento N2</a:t>
            </a:r>
          </a:p>
          <a:p>
            <a:br/>
            <a:pPr>
              <a:defRPr sz="1000">
                <a:solidFill>
                  <a:srgbClr val="C9B89F"/>
                </a:solidFill>
              </a:defRPr>
            </a:pPr>
            <a:r>
              <a:t>Apresentação final de Projetos 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39B3D"/>
                </a:solidFill>
              </a:defRPr>
            </a:pPr>
            <a:r>
              <a:t>Mensagem do Marco: "O MVP não fica para Projetos II. A entrega da 1ª versão funcional é obrigatória em 19/10/2026."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  <a:latin typeface="Segoe UI"/>
              </a:defRPr>
            </a:pPr>
            <a:r>
              <a:t>• 12 · Cronograma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F3EA"/>
                </a:solidFill>
                <a:latin typeface="Georgia"/>
              </a:defRPr>
            </a:pPr>
            <a:r>
              <a:t>Gantt Geral &amp; Continuidade em Projetos II.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9B89F"/>
                </a:solidFill>
                <a:latin typeface="Segoe UI"/>
              </a:defRPr>
            </a:pPr>
            <a:r>
              <a:t>A transição entre a versão funcional construída em Projetos I e o amadurecimento em Projetos II.</a:t>
            </a:r>
          </a:p>
        </p:txBody>
      </p:sp>
      <p:pic>
        <p:nvPicPr>
          <p:cNvPr id="5" name="Picture 4" descr="fibery-gantt-projetos-i-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5943600" cy="26931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828800"/>
            <a:ext cx="4480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39B3D"/>
                </a:solidFill>
              </a:defRPr>
            </a:pPr>
            <a:r>
              <a:t>PROJETOS II (2027.1) · ESCOPO DE CONTINUIDADE:</a:t>
            </a:r>
          </a:p>
          <a:p>
            <a:pPr>
              <a:defRPr sz="1200">
                <a:solidFill>
                  <a:srgbClr val="F7F3EA"/>
                </a:solidFill>
              </a:defRPr>
            </a:pPr>
            <a:r>
              <a:t>• Evolução técnica e refatoração</a:t>
            </a:r>
          </a:p>
          <a:p>
            <a:pPr>
              <a:defRPr sz="1200">
                <a:solidFill>
                  <a:srgbClr val="F7F3EA"/>
                </a:solidFill>
              </a:defRPr>
            </a:pPr>
            <a:r>
              <a:t>• Mais integrações reais (APIs CCEE e Distribuidoras)</a:t>
            </a:r>
          </a:p>
          <a:p>
            <a:pPr>
              <a:defRPr sz="1200">
                <a:solidFill>
                  <a:srgbClr val="F7F3EA"/>
                </a:solidFill>
              </a:defRPr>
            </a:pPr>
            <a:r>
              <a:t>• Automação avançada e segurança estendida</a:t>
            </a:r>
          </a:p>
          <a:p>
            <a:pPr>
              <a:defRPr sz="1200">
                <a:solidFill>
                  <a:srgbClr val="F7F3EA"/>
                </a:solidFill>
              </a:defRPr>
            </a:pPr>
            <a:r>
              <a:t>• Piloto ampliado com consumidores reais</a:t>
            </a:r>
          </a:p>
          <a:p>
            <a:pPr>
              <a:defRPr sz="1200">
                <a:solidFill>
                  <a:srgbClr val="F7F3EA"/>
                </a:solidFill>
              </a:defRPr>
            </a:pPr>
            <a:r>
              <a:t>• Consolidação da solução e Monografia Final</a:t>
            </a:r>
          </a:p>
          <a:p>
            <a:br/>
            <a:pPr>
              <a:defRPr sz="1100" i="1">
                <a:solidFill>
                  <a:srgbClr val="C9B89F"/>
                </a:solidFill>
              </a:defRPr>
            </a:pPr>
            <a:r>
              <a:t>"As datas de Projetos II são macroplanejamento preliminar e deverão ser sincronizadas com o plano de ensino de 2027.1."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  <a:latin typeface="Segoe UI"/>
              </a:defRPr>
            </a:pPr>
            <a:r>
              <a:t>• 13 · Cronograma (Gantt Ampliado)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F3EA"/>
                </a:solidFill>
                <a:latin typeface="Georgia"/>
              </a:defRPr>
            </a:pPr>
            <a:r>
              <a:t>Detalhamento do Cronograma: Visão Expandida em Alta Resolução.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9B89F"/>
                </a:solidFill>
                <a:latin typeface="Segoe UI"/>
              </a:defRPr>
            </a:pPr>
            <a:r>
              <a:t>Capturas completas do Fibery Gantt divididas em Parte Superior (Projetos I) e Parte Inferior (Projetos II).</a:t>
            </a:r>
          </a:p>
        </p:txBody>
      </p:sp>
      <p:pic>
        <p:nvPicPr>
          <p:cNvPr id="5" name="Picture 4" descr="fibery-gantt-projetos-i-i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10698480" cy="4847749"/>
          </a:xfrm>
          <a:prstGeom prst="rect">
            <a:avLst/>
          </a:prstGeom>
        </p:spPr>
      </p:pic>
      <p:pic>
        <p:nvPicPr>
          <p:cNvPr id="6" name="Picture 5" descr="fibery-cronograma-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06240"/>
            <a:ext cx="10698480" cy="50462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  <a:latin typeface="Segoe UI"/>
              </a:defRPr>
            </a:pPr>
            <a:r>
              <a:t>• 14 · Resultados Esperados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7F3EA"/>
                </a:solidFill>
                <a:latin typeface="Georgia"/>
              </a:defRPr>
            </a:pPr>
            <a:r>
              <a:t>Resultados Esperados: do Checkpoint de MVP à Continuidade.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9B89F"/>
                </a:solidFill>
                <a:latin typeface="Segoe UI"/>
              </a:defRPr>
            </a:pPr>
            <a:r>
              <a:t>Divisão clara das entregas mensuráveis nos três marcos de desenvolvimento do projeto.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3657600"/>
          </a:xfrm>
          <a:prstGeom prst="roundRect">
            <a:avLst/>
          </a:prstGeom>
          <a:solidFill>
            <a:srgbClr val="222222"/>
          </a:solidFill>
          <a:ln w="19050">
            <a:solidFill>
              <a:srgbClr val="D39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39B3D"/>
                </a:solidFill>
              </a:defRPr>
            </a:pPr>
            <a:r>
              <a:t>CHECKPOINT MVP · 19/10</a:t>
            </a:r>
          </a:p>
          <a:p>
            <a:pPr>
              <a:defRPr sz="1600" b="1">
                <a:solidFill>
                  <a:srgbClr val="F7F3EA"/>
                </a:solidFill>
              </a:defRPr>
            </a:pPr>
            <a:r>
              <a:t>Primeira Versão Funcional</a:t>
            </a:r>
            <a:br/>
          </a:p>
          <a:p>
            <a:pPr>
              <a:defRPr sz="1100">
                <a:solidFill>
                  <a:srgbClr val="F7F3EA"/>
                </a:solidFill>
              </a:defRPr>
            </a:pPr>
            <a:r>
              <a:t>✓ Primeira versão funcional entregue</a:t>
            </a:r>
            <a:br/>
            <a:r>
              <a:t>✓ Fluxo prioritário demonstrável</a:t>
            </a:r>
            <a:br/>
            <a:r>
              <a:t>✓ Ingestão e elegibilidade de dados</a:t>
            </a:r>
            <a:br/>
            <a:r>
              <a:t>✓ Diagnóstico e comparação inicial</a:t>
            </a:r>
            <a:br/>
            <a:r>
              <a:t>✓ Acompanhamento básico</a:t>
            </a:r>
            <a:br/>
            <a:r>
              <a:t>✓ Operação assistida onde necessário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474720" cy="3657600"/>
          </a:xfrm>
          <a:prstGeom prst="roundRect">
            <a:avLst/>
          </a:prstGeom>
          <a:solidFill>
            <a:srgbClr val="222222"/>
          </a:solidFill>
          <a:ln w="19050"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0116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B89F"/>
                </a:solidFill>
              </a:defRPr>
            </a:pPr>
            <a:r>
              <a:t>FIM DE PROJETOS I</a:t>
            </a:r>
          </a:p>
          <a:p>
            <a:pPr>
              <a:defRPr sz="1600" b="1">
                <a:solidFill>
                  <a:srgbClr val="F7F3EA"/>
                </a:solidFill>
              </a:defRPr>
            </a:pPr>
            <a:r>
              <a:t>MVP Refinado &amp; SSDLC</a:t>
            </a:r>
            <a:br/>
          </a:p>
          <a:p>
            <a:pPr>
              <a:defRPr sz="1100">
                <a:solidFill>
                  <a:srgbClr val="F7F3EA"/>
                </a:solidFill>
              </a:defRPr>
            </a:pPr>
            <a:r>
              <a:t>✓ MVP refinado com testes iniciais</a:t>
            </a:r>
            <a:br/>
            <a:r>
              <a:t>✓ Arquitetura técnica documentada</a:t>
            </a:r>
            <a:br/>
            <a:r>
              <a:t>✓ SSDLC e conformidade LGPD</a:t>
            </a:r>
            <a:br/>
            <a:r>
              <a:t>✓ Hipóteses de produto validadas</a:t>
            </a:r>
            <a:br/>
            <a:r>
              <a:t>✓ Backlog atualizado por evidências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920240"/>
            <a:ext cx="3474720" cy="3657600"/>
          </a:xfrm>
          <a:prstGeom prst="roundRect">
            <a:avLst/>
          </a:prstGeom>
          <a:solidFill>
            <a:srgbClr val="222222"/>
          </a:solidFill>
          <a:ln w="19050">
            <a:solidFill>
              <a:srgbClr val="C9B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20116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9B89F"/>
                </a:solidFill>
              </a:defRPr>
            </a:pPr>
            <a:r>
              <a:t>PROJETOS II (2027.1)</a:t>
            </a:r>
          </a:p>
          <a:p>
            <a:pPr>
              <a:defRPr sz="1600" b="1">
                <a:solidFill>
                  <a:srgbClr val="F7F3EA"/>
                </a:solidFill>
              </a:defRPr>
            </a:pPr>
            <a:r>
              <a:t>Maturidade &amp; Piloto</a:t>
            </a:r>
            <a:br/>
          </a:p>
          <a:p>
            <a:pPr>
              <a:defRPr sz="1100">
                <a:solidFill>
                  <a:srgbClr val="F7F3EA"/>
                </a:solidFill>
              </a:defRPr>
            </a:pPr>
            <a:r>
              <a:t>✓ Mais integrações reais de APIs</a:t>
            </a:r>
            <a:br/>
            <a:r>
              <a:t>✓ Maior automação do fluxo</a:t>
            </a:r>
            <a:br/>
            <a:r>
              <a:t>✓ Robustez técnica e observabilidade</a:t>
            </a:r>
            <a:br/>
            <a:r>
              <a:t>✓ Validação ampliada em piloto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D39B3D"/>
                </a:solidFill>
              </a:defRPr>
            </a:pPr>
            <a:r>
              <a:t>Headline Final: "Projetos I precisa provar que o ciclo funciona. Projetos II deve provar que ele pode amadurecer."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7F3EA"/>
                </a:solidFill>
                <a:latin typeface="Georgia"/>
              </a:defRPr>
            </a:pPr>
            <a:r>
              <a:t>Milet · Mesma energia. Mais possibilidades.</a:t>
            </a:r>
          </a:p>
          <a:p>
            <a:pPr algn="ctr">
              <a:defRPr sz="1800">
                <a:solidFill>
                  <a:srgbClr val="D39B3D"/>
                </a:solidFill>
              </a:defRPr>
            </a:pPr>
            <a:r>
              <a:t>Plataforma digital para decisão, comparação e gestão contínua de energia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9B89F"/>
                </a:solidFill>
              </a:defRPr>
            </a:pPr>
            <a:r>
              <a:t>Eduardo Ferreira de Mattos</a:t>
            </a:r>
            <a:br/>
            <a:r>
              <a:t>Engenharia da Computação · Projetos I (2026.2) · Turma 6</a:t>
            </a:r>
            <a:br/>
            <a:r>
              <a:t>Orientador: Prof. Dr. Rodrigo Juliani · Universidade Presbiteriana Mackenzie</a:t>
            </a:r>
            <a:br/>
            <a:br/>
            <a:r>
              <a:t>Muito obrigado.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