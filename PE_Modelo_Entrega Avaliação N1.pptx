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67" r:id="rId3"/>
    <p:sldId id="508" r:id="rId4"/>
    <p:sldId id="511" r:id="rId5"/>
    <p:sldId id="509" r:id="rId6"/>
    <p:sldId id="504" r:id="rId7"/>
    <p:sldId id="498" r:id="rId8"/>
    <p:sldId id="505" r:id="rId9"/>
    <p:sldId id="507" r:id="rId10"/>
    <p:sldId id="512" r:id="rId11"/>
    <p:sldId id="261" r:id="rId12"/>
    <p:sldId id="268" r:id="rId13"/>
  </p:sldIdLst>
  <p:sldSz cx="18288000" cy="10287000"/>
  <p:notesSz cx="6858000" cy="9144000"/>
  <p:embeddedFontLst>
    <p:embeddedFont>
      <p:font typeface="Lovelo" panose="020B0604020202020204" charset="0"/>
      <p:regular r:id="rId15"/>
    </p:embeddedFont>
    <p:embeddedFont>
      <p:font typeface="Montserrat Classic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81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C1B721-4C3B-427B-A535-8428F5907432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2168E2-02A7-4C19-9205-D8C71A7F11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322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2168E2-02A7-4C19-9205-D8C71A7F119E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3258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4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937522" y="0"/>
            <a:ext cx="16727947" cy="10331984"/>
          </a:xfrm>
          <a:custGeom>
            <a:avLst/>
            <a:gdLst/>
            <a:ahLst/>
            <a:cxnLst/>
            <a:rect l="l" t="t" r="r" b="b"/>
            <a:pathLst>
              <a:path w="16727947" h="10331984">
                <a:moveTo>
                  <a:pt x="0" y="0"/>
                </a:moveTo>
                <a:lnTo>
                  <a:pt x="16727947" y="0"/>
                </a:lnTo>
                <a:lnTo>
                  <a:pt x="16727947" y="10331984"/>
                </a:lnTo>
                <a:lnTo>
                  <a:pt x="0" y="10331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" r="-71" b="-879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 rot="-4838323">
            <a:off x="-4516743" y="-2919769"/>
            <a:ext cx="16171520" cy="16171520"/>
          </a:xfrm>
          <a:custGeom>
            <a:avLst/>
            <a:gdLst/>
            <a:ahLst/>
            <a:cxnLst/>
            <a:rect l="l" t="t" r="r" b="b"/>
            <a:pathLst>
              <a:path w="16171520" h="16171520">
                <a:moveTo>
                  <a:pt x="0" y="0"/>
                </a:moveTo>
                <a:lnTo>
                  <a:pt x="16171520" y="0"/>
                </a:lnTo>
                <a:lnTo>
                  <a:pt x="16171520" y="16171520"/>
                </a:lnTo>
                <a:lnTo>
                  <a:pt x="0" y="16171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0" name="Group 10"/>
          <p:cNvGrpSpPr/>
          <p:nvPr/>
        </p:nvGrpSpPr>
        <p:grpSpPr>
          <a:xfrm>
            <a:off x="1099901" y="1572410"/>
            <a:ext cx="49054" cy="4905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8AF24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232" tIns="50232" rIns="50232" bIns="50232" rtlCol="0" anchor="ctr"/>
            <a:lstStyle/>
            <a:p>
              <a:pPr algn="ctr">
                <a:lnSpc>
                  <a:spcPts val="263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44748" y="1352989"/>
            <a:ext cx="49054" cy="49054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8AF24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232" tIns="50232" rIns="50232" bIns="50232" rtlCol="0" anchor="ctr"/>
            <a:lstStyle/>
            <a:p>
              <a:pPr algn="ctr">
                <a:lnSpc>
                  <a:spcPts val="263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220347" y="8488074"/>
            <a:ext cx="10292785" cy="292089"/>
            <a:chOff x="0" y="0"/>
            <a:chExt cx="3400456" cy="9649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400456" cy="96498"/>
            </a:xfrm>
            <a:custGeom>
              <a:avLst/>
              <a:gdLst/>
              <a:ahLst/>
              <a:cxnLst/>
              <a:rect l="l" t="t" r="r" b="b"/>
              <a:pathLst>
                <a:path w="3400456" h="96498">
                  <a:moveTo>
                    <a:pt x="9778" y="0"/>
                  </a:moveTo>
                  <a:lnTo>
                    <a:pt x="3390678" y="0"/>
                  </a:lnTo>
                  <a:cubicBezTo>
                    <a:pt x="3393271" y="0"/>
                    <a:pt x="3395758" y="1030"/>
                    <a:pt x="3397592" y="2864"/>
                  </a:cubicBezTo>
                  <a:cubicBezTo>
                    <a:pt x="3399425" y="4698"/>
                    <a:pt x="3400456" y="7185"/>
                    <a:pt x="3400456" y="9778"/>
                  </a:cubicBezTo>
                  <a:lnTo>
                    <a:pt x="3400456" y="86720"/>
                  </a:lnTo>
                  <a:cubicBezTo>
                    <a:pt x="3400456" y="89313"/>
                    <a:pt x="3399425" y="91800"/>
                    <a:pt x="3397592" y="93634"/>
                  </a:cubicBezTo>
                  <a:cubicBezTo>
                    <a:pt x="3395758" y="95468"/>
                    <a:pt x="3393271" y="96498"/>
                    <a:pt x="3390678" y="96498"/>
                  </a:cubicBezTo>
                  <a:lnTo>
                    <a:pt x="9778" y="96498"/>
                  </a:lnTo>
                  <a:cubicBezTo>
                    <a:pt x="7185" y="96498"/>
                    <a:pt x="4698" y="95468"/>
                    <a:pt x="2864" y="93634"/>
                  </a:cubicBezTo>
                  <a:cubicBezTo>
                    <a:pt x="1030" y="91800"/>
                    <a:pt x="0" y="89313"/>
                    <a:pt x="0" y="86720"/>
                  </a:cubicBezTo>
                  <a:lnTo>
                    <a:pt x="0" y="9778"/>
                  </a:lnTo>
                  <a:cubicBezTo>
                    <a:pt x="0" y="7185"/>
                    <a:pt x="1030" y="4698"/>
                    <a:pt x="2864" y="2864"/>
                  </a:cubicBezTo>
                  <a:cubicBezTo>
                    <a:pt x="4698" y="1030"/>
                    <a:pt x="7185" y="0"/>
                    <a:pt x="9778" y="0"/>
                  </a:cubicBezTo>
                  <a:close/>
                </a:path>
              </a:pathLst>
            </a:custGeom>
            <a:solidFill>
              <a:srgbClr val="F8AF24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073772" y="9104012"/>
            <a:ext cx="10810772" cy="279191"/>
            <a:chOff x="0" y="0"/>
            <a:chExt cx="3571584" cy="9223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571584" cy="92237"/>
            </a:xfrm>
            <a:custGeom>
              <a:avLst/>
              <a:gdLst/>
              <a:ahLst/>
              <a:cxnLst/>
              <a:rect l="l" t="t" r="r" b="b"/>
              <a:pathLst>
                <a:path w="3571584" h="92237">
                  <a:moveTo>
                    <a:pt x="9310" y="0"/>
                  </a:moveTo>
                  <a:lnTo>
                    <a:pt x="3562275" y="0"/>
                  </a:lnTo>
                  <a:cubicBezTo>
                    <a:pt x="3564744" y="0"/>
                    <a:pt x="3567112" y="981"/>
                    <a:pt x="3568858" y="2727"/>
                  </a:cubicBezTo>
                  <a:cubicBezTo>
                    <a:pt x="3570603" y="4473"/>
                    <a:pt x="3571584" y="6841"/>
                    <a:pt x="3571584" y="9310"/>
                  </a:cubicBezTo>
                  <a:lnTo>
                    <a:pt x="3571584" y="82927"/>
                  </a:lnTo>
                  <a:cubicBezTo>
                    <a:pt x="3571584" y="85397"/>
                    <a:pt x="3570603" y="87765"/>
                    <a:pt x="3568858" y="89510"/>
                  </a:cubicBezTo>
                  <a:cubicBezTo>
                    <a:pt x="3567112" y="91256"/>
                    <a:pt x="3564744" y="92237"/>
                    <a:pt x="3562275" y="92237"/>
                  </a:cubicBezTo>
                  <a:lnTo>
                    <a:pt x="9310" y="92237"/>
                  </a:lnTo>
                  <a:cubicBezTo>
                    <a:pt x="6841" y="92237"/>
                    <a:pt x="4473" y="91256"/>
                    <a:pt x="2727" y="89510"/>
                  </a:cubicBezTo>
                  <a:cubicBezTo>
                    <a:pt x="981" y="87765"/>
                    <a:pt x="0" y="85397"/>
                    <a:pt x="0" y="82927"/>
                  </a:cubicBezTo>
                  <a:lnTo>
                    <a:pt x="0" y="9310"/>
                  </a:lnTo>
                  <a:cubicBezTo>
                    <a:pt x="0" y="6841"/>
                    <a:pt x="981" y="4473"/>
                    <a:pt x="2727" y="2727"/>
                  </a:cubicBezTo>
                  <a:cubicBezTo>
                    <a:pt x="4473" y="981"/>
                    <a:pt x="6841" y="0"/>
                    <a:pt x="9310" y="0"/>
                  </a:cubicBezTo>
                  <a:close/>
                </a:path>
              </a:pathLst>
            </a:custGeom>
            <a:solidFill>
              <a:srgbClr val="0B5B72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6758878" y="9709144"/>
            <a:ext cx="10047148" cy="319382"/>
            <a:chOff x="0" y="0"/>
            <a:chExt cx="3319304" cy="10551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319304" cy="105515"/>
            </a:xfrm>
            <a:custGeom>
              <a:avLst/>
              <a:gdLst/>
              <a:ahLst/>
              <a:cxnLst/>
              <a:rect l="l" t="t" r="r" b="b"/>
              <a:pathLst>
                <a:path w="3319304" h="105515">
                  <a:moveTo>
                    <a:pt x="10017" y="0"/>
                  </a:moveTo>
                  <a:lnTo>
                    <a:pt x="3309286" y="0"/>
                  </a:lnTo>
                  <a:cubicBezTo>
                    <a:pt x="3314819" y="0"/>
                    <a:pt x="3319304" y="4485"/>
                    <a:pt x="3319304" y="10017"/>
                  </a:cubicBezTo>
                  <a:lnTo>
                    <a:pt x="3319304" y="95498"/>
                  </a:lnTo>
                  <a:cubicBezTo>
                    <a:pt x="3319304" y="98155"/>
                    <a:pt x="3318248" y="100703"/>
                    <a:pt x="3316370" y="102581"/>
                  </a:cubicBezTo>
                  <a:cubicBezTo>
                    <a:pt x="3314491" y="104460"/>
                    <a:pt x="3311943" y="105515"/>
                    <a:pt x="3309286" y="105515"/>
                  </a:cubicBezTo>
                  <a:lnTo>
                    <a:pt x="10017" y="105515"/>
                  </a:lnTo>
                  <a:cubicBezTo>
                    <a:pt x="7361" y="105515"/>
                    <a:pt x="4813" y="104460"/>
                    <a:pt x="2934" y="102581"/>
                  </a:cubicBezTo>
                  <a:cubicBezTo>
                    <a:pt x="1055" y="100703"/>
                    <a:pt x="0" y="98155"/>
                    <a:pt x="0" y="95498"/>
                  </a:cubicBezTo>
                  <a:lnTo>
                    <a:pt x="0" y="10017"/>
                  </a:lnTo>
                  <a:cubicBezTo>
                    <a:pt x="0" y="7361"/>
                    <a:pt x="1055" y="4813"/>
                    <a:pt x="2934" y="2934"/>
                  </a:cubicBezTo>
                  <a:cubicBezTo>
                    <a:pt x="4813" y="1055"/>
                    <a:pt x="7361" y="0"/>
                    <a:pt x="10017" y="0"/>
                  </a:cubicBezTo>
                  <a:close/>
                </a:path>
              </a:pathLst>
            </a:custGeom>
            <a:solidFill>
              <a:srgbClr val="DC4B4C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844557" y="8164753"/>
            <a:ext cx="4340990" cy="1230819"/>
          </a:xfrm>
          <a:custGeom>
            <a:avLst/>
            <a:gdLst/>
            <a:ahLst/>
            <a:cxnLst/>
            <a:rect l="l" t="t" r="r" b="b"/>
            <a:pathLst>
              <a:path w="4340990" h="1230819">
                <a:moveTo>
                  <a:pt x="0" y="0"/>
                </a:moveTo>
                <a:lnTo>
                  <a:pt x="4340990" y="0"/>
                </a:lnTo>
                <a:lnTo>
                  <a:pt x="4340990" y="1230819"/>
                </a:lnTo>
                <a:lnTo>
                  <a:pt x="0" y="12308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6011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7" name="TextBox 27"/>
          <p:cNvSpPr txBox="1"/>
          <p:nvPr/>
        </p:nvSpPr>
        <p:spPr>
          <a:xfrm>
            <a:off x="1069274" y="2610719"/>
            <a:ext cx="9450616" cy="3490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5114"/>
              </a:lnSpc>
            </a:pPr>
            <a:r>
              <a:rPr lang="en-US" sz="2400" b="1" dirty="0" err="1">
                <a:solidFill>
                  <a:srgbClr val="FFFFFF"/>
                </a:solidFill>
                <a:latin typeface="Lovelo"/>
              </a:rPr>
              <a:t>PrOJETOS</a:t>
            </a:r>
            <a:r>
              <a:rPr lang="en-US" sz="2400" b="1" dirty="0">
                <a:solidFill>
                  <a:srgbClr val="FFFFFF"/>
                </a:solidFill>
                <a:latin typeface="Lovelo"/>
              </a:rPr>
              <a:t> EMPREENDEDORES</a:t>
            </a:r>
          </a:p>
          <a:p>
            <a:pPr algn="just">
              <a:lnSpc>
                <a:spcPts val="15114"/>
              </a:lnSpc>
            </a:pPr>
            <a:r>
              <a:rPr lang="en-US" sz="2400" b="1" dirty="0" err="1">
                <a:solidFill>
                  <a:srgbClr val="FFFFFF"/>
                </a:solidFill>
                <a:latin typeface="Lovelo"/>
              </a:rPr>
              <a:t>Profa</a:t>
            </a:r>
            <a:r>
              <a:rPr lang="en-US" sz="2400" b="1" dirty="0">
                <a:solidFill>
                  <a:srgbClr val="FFFFFF"/>
                </a:solidFill>
                <a:latin typeface="Lovelo"/>
              </a:rPr>
              <a:t>. Julia Gebara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5B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066800" y="1562100"/>
            <a:ext cx="6310899" cy="3134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646"/>
              </a:lnSpc>
            </a:pPr>
            <a:r>
              <a:rPr lang="en-US" sz="2800" dirty="0">
                <a:solidFill>
                  <a:srgbClr val="F8AF24"/>
                </a:solidFill>
                <a:latin typeface="Lovelo"/>
              </a:rPr>
              <a:t>INSTRUÇÕES PARA A ENTREGA DA AVALIAÇÃO n1</a:t>
            </a:r>
          </a:p>
          <a:p>
            <a:pPr>
              <a:lnSpc>
                <a:spcPts val="8646"/>
              </a:lnSpc>
            </a:pPr>
            <a:endParaRPr lang="en-US" sz="2800" dirty="0">
              <a:solidFill>
                <a:srgbClr val="F8AF24"/>
              </a:solidFill>
              <a:latin typeface="Lovel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787843" y="915035"/>
            <a:ext cx="9890557" cy="8456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911"/>
              </a:lnSpc>
            </a:pPr>
            <a:r>
              <a:rPr lang="pt-BR" sz="2800" b="1" dirty="0">
                <a:solidFill>
                  <a:srgbClr val="FFFFFF"/>
                </a:solidFill>
                <a:latin typeface="Montserrat Classic"/>
              </a:rPr>
              <a:t>O grupo deverá realizar a entrega em arquivo PPT ou PDF. O arquivo deverá conter:</a:t>
            </a:r>
          </a:p>
          <a:p>
            <a:pPr algn="just">
              <a:lnSpc>
                <a:spcPts val="3911"/>
              </a:lnSpc>
            </a:pPr>
            <a:endParaRPr lang="pt-BR" sz="2800" b="1" dirty="0">
              <a:solidFill>
                <a:srgbClr val="FFFFFF"/>
              </a:solidFill>
              <a:latin typeface="Montserrat Classic"/>
            </a:endParaRPr>
          </a:p>
          <a:p>
            <a:pPr marL="514350" indent="-514350" algn="just">
              <a:lnSpc>
                <a:spcPts val="3911"/>
              </a:lnSpc>
              <a:buFont typeface="+mj-lt"/>
              <a:buAutoNum type="arabicPeriod"/>
            </a:pPr>
            <a:r>
              <a:rPr lang="pt-BR" sz="2800" b="1" dirty="0">
                <a:solidFill>
                  <a:srgbClr val="FFFFFF"/>
                </a:solidFill>
                <a:latin typeface="Montserrat Classic"/>
              </a:rPr>
              <a:t>NOMES de todos os integrantes do grupo em ordem alfabética;</a:t>
            </a:r>
          </a:p>
          <a:p>
            <a:pPr marL="514350" indent="-514350" algn="just">
              <a:lnSpc>
                <a:spcPts val="3911"/>
              </a:lnSpc>
              <a:buFont typeface="+mj-lt"/>
              <a:buAutoNum type="arabicPeriod"/>
            </a:pPr>
            <a:r>
              <a:rPr lang="pt-BR" sz="2800" b="1" dirty="0">
                <a:solidFill>
                  <a:srgbClr val="FFFFFF"/>
                </a:solidFill>
                <a:latin typeface="Montserrat Classic"/>
              </a:rPr>
              <a:t>Matriz SWOT com o mapeamento das habilidades da equipe;</a:t>
            </a:r>
          </a:p>
          <a:p>
            <a:pPr marL="514350" indent="-514350" algn="just">
              <a:lnSpc>
                <a:spcPts val="3911"/>
              </a:lnSpc>
              <a:buFont typeface="+mj-lt"/>
              <a:buAutoNum type="arabicPeriod"/>
            </a:pPr>
            <a:r>
              <a:rPr lang="pt-BR" sz="2800" b="1" dirty="0">
                <a:solidFill>
                  <a:srgbClr val="FFFFFF"/>
                </a:solidFill>
                <a:latin typeface="Montserrat Classic"/>
              </a:rPr>
              <a:t>DECLARAÇÃO clara do PROBLEMA em uma frase;</a:t>
            </a:r>
          </a:p>
          <a:p>
            <a:pPr marL="514350" indent="-514350" algn="just">
              <a:lnSpc>
                <a:spcPts val="3911"/>
              </a:lnSpc>
              <a:buFont typeface="+mj-lt"/>
              <a:buAutoNum type="arabicPeriod"/>
            </a:pPr>
            <a:r>
              <a:rPr lang="pt-BR" sz="2800" b="1" dirty="0">
                <a:solidFill>
                  <a:srgbClr val="FFFFFF"/>
                </a:solidFill>
                <a:latin typeface="Montserrat Classic"/>
              </a:rPr>
              <a:t>Matriz do PROBLEMA;</a:t>
            </a:r>
          </a:p>
          <a:p>
            <a:pPr marL="514350" indent="-514350" algn="just">
              <a:lnSpc>
                <a:spcPts val="3911"/>
              </a:lnSpc>
              <a:buFont typeface="+mj-lt"/>
              <a:buAutoNum type="arabicPeriod"/>
            </a:pPr>
            <a:r>
              <a:rPr lang="pt-BR" sz="2800" b="1" dirty="0">
                <a:solidFill>
                  <a:srgbClr val="FFFFFF"/>
                </a:solidFill>
                <a:latin typeface="Montserrat Classic"/>
              </a:rPr>
              <a:t>MAPA DA EMPATIA de ao menos 2 perfis de clientes;</a:t>
            </a:r>
          </a:p>
          <a:p>
            <a:pPr marL="514350" indent="-514350" algn="just">
              <a:lnSpc>
                <a:spcPts val="3911"/>
              </a:lnSpc>
              <a:buFont typeface="+mj-lt"/>
              <a:buAutoNum type="arabicPeriod"/>
            </a:pPr>
            <a:r>
              <a:rPr lang="pt-BR" sz="2800" b="1" dirty="0">
                <a:solidFill>
                  <a:srgbClr val="FFFFFF"/>
                </a:solidFill>
                <a:latin typeface="Montserrat Classic"/>
              </a:rPr>
              <a:t>CANVAS DA PROPOSTA DE VALOR de ao menos 2 perfis de clientes.</a:t>
            </a:r>
          </a:p>
          <a:p>
            <a:pPr marL="514350" indent="-514350" algn="just">
              <a:lnSpc>
                <a:spcPts val="3911"/>
              </a:lnSpc>
              <a:buFont typeface="+mj-lt"/>
              <a:buAutoNum type="arabicPeriod"/>
            </a:pPr>
            <a:r>
              <a:rPr lang="pt-BR" sz="2800" b="1" dirty="0">
                <a:solidFill>
                  <a:srgbClr val="FFFFFF"/>
                </a:solidFill>
                <a:latin typeface="Montserrat Classic"/>
              </a:rPr>
              <a:t>Entre 3 a 5 perguntas usadas para VALIDAR o problema escolhido junto aos PERFIS DE CLIENTES, com ao menos 2 respostas para cada perfil.</a:t>
            </a:r>
          </a:p>
          <a:p>
            <a:pPr marL="514350" indent="-514350" algn="just">
              <a:lnSpc>
                <a:spcPts val="3911"/>
              </a:lnSpc>
              <a:buFont typeface="+mj-lt"/>
              <a:buAutoNum type="arabicPeriod"/>
            </a:pPr>
            <a:endParaRPr lang="pt-BR" sz="3200" b="1" dirty="0">
              <a:solidFill>
                <a:srgbClr val="FFFFFF"/>
              </a:solidFill>
              <a:latin typeface="Montserrat Classic"/>
            </a:endParaRPr>
          </a:p>
          <a:p>
            <a:pPr marL="342900" indent="-342900" algn="just">
              <a:lnSpc>
                <a:spcPts val="3911"/>
              </a:lnSpc>
              <a:buFont typeface="Arial" panose="020B0604020202020204" pitchFamily="34" charset="0"/>
              <a:buChar char="•"/>
            </a:pPr>
            <a:endParaRPr lang="pt-BR" sz="3200" b="1" dirty="0">
              <a:solidFill>
                <a:srgbClr val="FFFFFF"/>
              </a:solidFill>
              <a:latin typeface="Montserrat Classic"/>
            </a:endParaRPr>
          </a:p>
        </p:txBody>
      </p:sp>
    </p:spTree>
    <p:extLst>
      <p:ext uri="{BB962C8B-B14F-4D97-AF65-F5344CB8AC3E}">
        <p14:creationId xmlns:p14="http://schemas.microsoft.com/office/powerpoint/2010/main" val="3216055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882632BE-5FE4-65A4-ACC8-A033F52232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023793"/>
              </p:ext>
            </p:extLst>
          </p:nvPr>
        </p:nvGraphicFramePr>
        <p:xfrm>
          <a:off x="3048000" y="876300"/>
          <a:ext cx="12192000" cy="800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769983442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637529840"/>
                    </a:ext>
                  </a:extLst>
                </a:gridCol>
              </a:tblGrid>
              <a:tr h="4116457">
                <a:tc>
                  <a:txBody>
                    <a:bodyPr/>
                    <a:lstStyle/>
                    <a:p>
                      <a:r>
                        <a:rPr lang="pt-BR" sz="3200"/>
                        <a:t>STRENGTHS (FORÇAS)</a:t>
                      </a:r>
                      <a:endParaRPr lang="pt-BR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/>
                        <a:t>WEAKNESSES (FRAQUEZAS)</a:t>
                      </a:r>
                      <a:endParaRPr lang="pt-BR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6048266"/>
                  </a:ext>
                </a:extLst>
              </a:tr>
              <a:tr h="3884543">
                <a:tc>
                  <a:txBody>
                    <a:bodyPr/>
                    <a:lstStyle/>
                    <a:p>
                      <a:r>
                        <a:rPr lang="pt-BR" sz="3200" b="1"/>
                        <a:t>OPORTUNITIES (OPORTUNIDADES)</a:t>
                      </a:r>
                      <a:endParaRPr lang="pt-BR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b="1"/>
                        <a:t>THREATS (AMEAÇAS)</a:t>
                      </a:r>
                      <a:endParaRPr lang="pt-BR" sz="3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66636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4723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01ED21D0-50DD-8BDF-D004-1C91E81F5A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4380350"/>
              </p:ext>
            </p:extLst>
          </p:nvPr>
        </p:nvGraphicFramePr>
        <p:xfrm>
          <a:off x="3200400" y="3314700"/>
          <a:ext cx="12192000" cy="25908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41683476"/>
                    </a:ext>
                  </a:extLst>
                </a:gridCol>
              </a:tblGrid>
              <a:tr h="787400">
                <a:tc>
                  <a:txBody>
                    <a:bodyPr/>
                    <a:lstStyle/>
                    <a:p>
                      <a:pPr algn="ctr"/>
                      <a:r>
                        <a:rPr lang="pt-BR" sz="4000" dirty="0"/>
                        <a:t>DECLARAÇÃO CLARA DO PROBLEMA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4792704"/>
                  </a:ext>
                </a:extLst>
              </a:tr>
              <a:tr h="180340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42881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7491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AA434D2D-7DEE-8A03-8DEF-921AEB897D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935598"/>
              </p:ext>
            </p:extLst>
          </p:nvPr>
        </p:nvGraphicFramePr>
        <p:xfrm>
          <a:off x="3048000" y="1079500"/>
          <a:ext cx="12192000" cy="787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13081771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85289515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96398394"/>
                    </a:ext>
                  </a:extLst>
                </a:gridCol>
              </a:tblGrid>
              <a:tr h="3937000">
                <a:tc>
                  <a:txBody>
                    <a:bodyPr/>
                    <a:lstStyle/>
                    <a:p>
                      <a:r>
                        <a:rPr lang="pt-BR" sz="2400" dirty="0"/>
                        <a:t>QUANDO O PROBLEMA ACONTECE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CAUSA RAIZ DO PROBLEMA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QUAIS AS ALTERNATIVAS USADAS PARA CONTORNAR O PROBLEMA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874870"/>
                  </a:ext>
                </a:extLst>
              </a:tr>
              <a:tr h="3937000">
                <a:tc>
                  <a:txBody>
                    <a:bodyPr/>
                    <a:lstStyle/>
                    <a:p>
                      <a:r>
                        <a:rPr lang="pt-BR" sz="2400" dirty="0"/>
                        <a:t>QUEM GERALMENTE É AFETADO PELO PROBLEMA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COMO A PESSOA AFETADA SE SENTE</a:t>
                      </a:r>
                    </a:p>
                    <a:p>
                      <a:endParaRPr lang="pt-BR" sz="2400" dirty="0"/>
                    </a:p>
                    <a:p>
                      <a:endParaRPr lang="pt-BR" sz="2400" dirty="0"/>
                    </a:p>
                    <a:p>
                      <a:endParaRPr lang="pt-BR" sz="2400" dirty="0"/>
                    </a:p>
                    <a:p>
                      <a:endParaRPr lang="pt-BR" sz="2400" dirty="0"/>
                    </a:p>
                    <a:p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QUAIS AS DESVANTAGENS DESTAS ALTERNATIVAS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5428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7355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ntendo texto, mapa&#10;&#10;&#10;&#10;Descrição gerada automaticamente">
            <a:extLst>
              <a:ext uri="{FF2B5EF4-FFF2-40B4-BE49-F238E27FC236}">
                <a16:creationId xmlns:a16="http://schemas.microsoft.com/office/drawing/2014/main" id="{33043023-AA5A-2D41-A3DB-D4F9AAC14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850" y="0"/>
            <a:ext cx="14393012" cy="10112832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9894D77-1724-DA4F-9D31-6521BD17A191}"/>
              </a:ext>
            </a:extLst>
          </p:cNvPr>
          <p:cNvSpPr txBox="1"/>
          <p:nvPr/>
        </p:nvSpPr>
        <p:spPr>
          <a:xfrm>
            <a:off x="8798224" y="222112"/>
            <a:ext cx="4003375" cy="453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346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 de Empatia: </a:t>
            </a:r>
            <a:endParaRPr lang="pt-BR" sz="2346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anto Dobrado 11">
            <a:extLst>
              <a:ext uri="{FF2B5EF4-FFF2-40B4-BE49-F238E27FC236}">
                <a16:creationId xmlns:a16="http://schemas.microsoft.com/office/drawing/2014/main" id="{9B93546F-B944-5141-AFF8-20FBA348C439}"/>
              </a:ext>
            </a:extLst>
          </p:cNvPr>
          <p:cNvSpPr/>
          <p:nvPr/>
        </p:nvSpPr>
        <p:spPr>
          <a:xfrm rot="20952879">
            <a:off x="2363279" y="2577467"/>
            <a:ext cx="2476558" cy="754942"/>
          </a:xfrm>
          <a:prstGeom prst="foldedCorner">
            <a:avLst/>
          </a:prstGeom>
          <a:solidFill>
            <a:srgbClr val="F0F42B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anto Dobrado 19">
            <a:extLst>
              <a:ext uri="{FF2B5EF4-FFF2-40B4-BE49-F238E27FC236}">
                <a16:creationId xmlns:a16="http://schemas.microsoft.com/office/drawing/2014/main" id="{94730694-2C21-5A4E-BBA1-B390832566D6}"/>
              </a:ext>
            </a:extLst>
          </p:cNvPr>
          <p:cNvSpPr/>
          <p:nvPr/>
        </p:nvSpPr>
        <p:spPr>
          <a:xfrm rot="21393201">
            <a:off x="5758578" y="1170708"/>
            <a:ext cx="3035308" cy="1263412"/>
          </a:xfrm>
          <a:prstGeom prst="foldedCorner">
            <a:avLst/>
          </a:prstGeom>
          <a:solidFill>
            <a:srgbClr val="F0F42B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Canto Dobrado 20">
            <a:extLst>
              <a:ext uri="{FF2B5EF4-FFF2-40B4-BE49-F238E27FC236}">
                <a16:creationId xmlns:a16="http://schemas.microsoft.com/office/drawing/2014/main" id="{9A5C60F9-72D4-494B-A3FD-2834D7E7612E}"/>
              </a:ext>
            </a:extLst>
          </p:cNvPr>
          <p:cNvSpPr/>
          <p:nvPr/>
        </p:nvSpPr>
        <p:spPr>
          <a:xfrm rot="482975">
            <a:off x="9669149" y="1239668"/>
            <a:ext cx="2788878" cy="1193144"/>
          </a:xfrm>
          <a:prstGeom prst="foldedCorner">
            <a:avLst/>
          </a:prstGeom>
          <a:solidFill>
            <a:srgbClr val="F0F42B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Canto Dobrado 21">
            <a:extLst>
              <a:ext uri="{FF2B5EF4-FFF2-40B4-BE49-F238E27FC236}">
                <a16:creationId xmlns:a16="http://schemas.microsoft.com/office/drawing/2014/main" id="{C4D3FEE4-2C9E-4543-AC84-C82CEFB2381A}"/>
              </a:ext>
            </a:extLst>
          </p:cNvPr>
          <p:cNvSpPr/>
          <p:nvPr/>
        </p:nvSpPr>
        <p:spPr>
          <a:xfrm rot="21393201">
            <a:off x="10574429" y="6653271"/>
            <a:ext cx="2788878" cy="955974"/>
          </a:xfrm>
          <a:prstGeom prst="foldedCorner">
            <a:avLst/>
          </a:prstGeom>
          <a:solidFill>
            <a:srgbClr val="F0F42B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Canto Dobrado 22">
            <a:extLst>
              <a:ext uri="{FF2B5EF4-FFF2-40B4-BE49-F238E27FC236}">
                <a16:creationId xmlns:a16="http://schemas.microsoft.com/office/drawing/2014/main" id="{11E687D0-3532-7349-BC72-B70876695C5E}"/>
              </a:ext>
            </a:extLst>
          </p:cNvPr>
          <p:cNvSpPr/>
          <p:nvPr/>
        </p:nvSpPr>
        <p:spPr>
          <a:xfrm rot="21393201">
            <a:off x="2143771" y="8752010"/>
            <a:ext cx="2788878" cy="1193144"/>
          </a:xfrm>
          <a:prstGeom prst="foldedCorner">
            <a:avLst/>
          </a:prstGeom>
          <a:solidFill>
            <a:srgbClr val="F0F42B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Canto Dobrado 23">
            <a:extLst>
              <a:ext uri="{FF2B5EF4-FFF2-40B4-BE49-F238E27FC236}">
                <a16:creationId xmlns:a16="http://schemas.microsoft.com/office/drawing/2014/main" id="{64996A15-F311-6247-8D82-4F599677C6D1}"/>
              </a:ext>
            </a:extLst>
          </p:cNvPr>
          <p:cNvSpPr/>
          <p:nvPr/>
        </p:nvSpPr>
        <p:spPr>
          <a:xfrm rot="482975">
            <a:off x="5259824" y="8381366"/>
            <a:ext cx="2427780" cy="1193144"/>
          </a:xfrm>
          <a:prstGeom prst="foldedCorner">
            <a:avLst/>
          </a:prstGeom>
          <a:solidFill>
            <a:srgbClr val="F0F42B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Canto Dobrado 24">
            <a:extLst>
              <a:ext uri="{FF2B5EF4-FFF2-40B4-BE49-F238E27FC236}">
                <a16:creationId xmlns:a16="http://schemas.microsoft.com/office/drawing/2014/main" id="{B96FF963-9D36-674F-BCB0-EAE64B5DAD66}"/>
              </a:ext>
            </a:extLst>
          </p:cNvPr>
          <p:cNvSpPr/>
          <p:nvPr/>
        </p:nvSpPr>
        <p:spPr>
          <a:xfrm rot="482975">
            <a:off x="3748865" y="6373049"/>
            <a:ext cx="2788878" cy="955978"/>
          </a:xfrm>
          <a:prstGeom prst="foldedCorner">
            <a:avLst/>
          </a:prstGeom>
          <a:solidFill>
            <a:srgbClr val="F0F42B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Canto Dobrado 26">
            <a:extLst>
              <a:ext uri="{FF2B5EF4-FFF2-40B4-BE49-F238E27FC236}">
                <a16:creationId xmlns:a16="http://schemas.microsoft.com/office/drawing/2014/main" id="{4DAA47E7-12B0-9D44-AE24-C1765EE9316B}"/>
              </a:ext>
            </a:extLst>
          </p:cNvPr>
          <p:cNvSpPr/>
          <p:nvPr/>
        </p:nvSpPr>
        <p:spPr>
          <a:xfrm rot="21334282">
            <a:off x="7354191" y="6373049"/>
            <a:ext cx="2788878" cy="955978"/>
          </a:xfrm>
          <a:prstGeom prst="foldedCorner">
            <a:avLst/>
          </a:prstGeom>
          <a:solidFill>
            <a:srgbClr val="F0F42B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Canto Dobrado 27">
            <a:extLst>
              <a:ext uri="{FF2B5EF4-FFF2-40B4-BE49-F238E27FC236}">
                <a16:creationId xmlns:a16="http://schemas.microsoft.com/office/drawing/2014/main" id="{AE92BE82-1E6A-4A49-B08F-8945AFF096C1}"/>
              </a:ext>
            </a:extLst>
          </p:cNvPr>
          <p:cNvSpPr/>
          <p:nvPr/>
        </p:nvSpPr>
        <p:spPr>
          <a:xfrm rot="20554436">
            <a:off x="12042311" y="3172544"/>
            <a:ext cx="3278826" cy="992988"/>
          </a:xfrm>
          <a:prstGeom prst="foldedCorner">
            <a:avLst/>
          </a:prstGeom>
          <a:solidFill>
            <a:srgbClr val="F0F42B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Canto Dobrado 28">
            <a:extLst>
              <a:ext uri="{FF2B5EF4-FFF2-40B4-BE49-F238E27FC236}">
                <a16:creationId xmlns:a16="http://schemas.microsoft.com/office/drawing/2014/main" id="{2FC93919-3C98-664C-B1C2-458684E85B32}"/>
              </a:ext>
            </a:extLst>
          </p:cNvPr>
          <p:cNvSpPr/>
          <p:nvPr/>
        </p:nvSpPr>
        <p:spPr>
          <a:xfrm rot="21334282">
            <a:off x="13261319" y="5248538"/>
            <a:ext cx="2788878" cy="1129184"/>
          </a:xfrm>
          <a:prstGeom prst="foldedCorner">
            <a:avLst/>
          </a:prstGeom>
          <a:solidFill>
            <a:srgbClr val="F0F42B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Canto Dobrado 29">
            <a:extLst>
              <a:ext uri="{FF2B5EF4-FFF2-40B4-BE49-F238E27FC236}">
                <a16:creationId xmlns:a16="http://schemas.microsoft.com/office/drawing/2014/main" id="{DBC070AB-FFE3-6443-8A47-2373AC646703}"/>
              </a:ext>
            </a:extLst>
          </p:cNvPr>
          <p:cNvSpPr/>
          <p:nvPr/>
        </p:nvSpPr>
        <p:spPr>
          <a:xfrm rot="20952879">
            <a:off x="2640453" y="3993658"/>
            <a:ext cx="2476558" cy="995116"/>
          </a:xfrm>
          <a:prstGeom prst="foldedCorner">
            <a:avLst/>
          </a:prstGeom>
          <a:solidFill>
            <a:srgbClr val="F0F42B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Canto Dobrado 30">
            <a:extLst>
              <a:ext uri="{FF2B5EF4-FFF2-40B4-BE49-F238E27FC236}">
                <a16:creationId xmlns:a16="http://schemas.microsoft.com/office/drawing/2014/main" id="{DF329E12-EE85-F840-9BCC-A698D09CF0B7}"/>
              </a:ext>
            </a:extLst>
          </p:cNvPr>
          <p:cNvSpPr/>
          <p:nvPr/>
        </p:nvSpPr>
        <p:spPr>
          <a:xfrm rot="21393201">
            <a:off x="8824441" y="8758731"/>
            <a:ext cx="2788878" cy="955974"/>
          </a:xfrm>
          <a:prstGeom prst="foldedCorner">
            <a:avLst/>
          </a:prstGeom>
          <a:solidFill>
            <a:srgbClr val="F0F42B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Canto Dobrado 31">
            <a:extLst>
              <a:ext uri="{FF2B5EF4-FFF2-40B4-BE49-F238E27FC236}">
                <a16:creationId xmlns:a16="http://schemas.microsoft.com/office/drawing/2014/main" id="{74021B51-919F-7842-9E86-3B39012BB420}"/>
              </a:ext>
            </a:extLst>
          </p:cNvPr>
          <p:cNvSpPr/>
          <p:nvPr/>
        </p:nvSpPr>
        <p:spPr>
          <a:xfrm rot="21393201">
            <a:off x="12133577" y="8989336"/>
            <a:ext cx="3425930" cy="813188"/>
          </a:xfrm>
          <a:prstGeom prst="foldedCorner">
            <a:avLst/>
          </a:prstGeom>
          <a:solidFill>
            <a:srgbClr val="F0F42B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E11334D-8441-22A5-2CF9-2756F2E2667D}"/>
              </a:ext>
            </a:extLst>
          </p:cNvPr>
          <p:cNvSpPr txBox="1"/>
          <p:nvPr/>
        </p:nvSpPr>
        <p:spPr>
          <a:xfrm>
            <a:off x="6655778" y="174168"/>
            <a:ext cx="1818719" cy="453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346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pt-BR" sz="2346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847C2E4-1385-9A2D-C184-D16E86CBC25A}"/>
              </a:ext>
            </a:extLst>
          </p:cNvPr>
          <p:cNvSpPr txBox="1"/>
          <p:nvPr/>
        </p:nvSpPr>
        <p:spPr>
          <a:xfrm>
            <a:off x="3150990" y="170824"/>
            <a:ext cx="1818719" cy="453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346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2346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PERFIL 1</a:t>
            </a:r>
            <a:endParaRPr lang="pt-BR" sz="2346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8811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C879C666-EC25-2C4D-B5B5-76D2C2BB95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561" t="2011" r="25238" b="2011"/>
          <a:stretch/>
        </p:blipFill>
        <p:spPr>
          <a:xfrm>
            <a:off x="9144000" y="924376"/>
            <a:ext cx="8996380" cy="914653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698E1C6-7897-D942-A4F9-ACB823F0CC7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142" r="26538"/>
          <a:stretch/>
        </p:blipFill>
        <p:spPr>
          <a:xfrm>
            <a:off x="191163" y="1116839"/>
            <a:ext cx="8656746" cy="8776154"/>
          </a:xfrm>
          <a:prstGeom prst="rect">
            <a:avLst/>
          </a:prstGeom>
        </p:spPr>
      </p:pic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A769351F-B3A3-D44B-BCEA-EEF175EB357D}"/>
              </a:ext>
            </a:extLst>
          </p:cNvPr>
          <p:cNvCxnSpPr/>
          <p:nvPr/>
        </p:nvCxnSpPr>
        <p:spPr>
          <a:xfrm>
            <a:off x="8586652" y="5509268"/>
            <a:ext cx="1288868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C8508795-EBC2-6347-830B-EF42FBECA1B7}"/>
              </a:ext>
            </a:extLst>
          </p:cNvPr>
          <p:cNvSpPr txBox="1"/>
          <p:nvPr/>
        </p:nvSpPr>
        <p:spPr>
          <a:xfrm>
            <a:off x="6906588" y="324748"/>
            <a:ext cx="50551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Canvas da Proposta de Valor: </a:t>
            </a:r>
            <a:endParaRPr lang="pt-B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anto Dobrado 9">
            <a:extLst>
              <a:ext uri="{FF2B5EF4-FFF2-40B4-BE49-F238E27FC236}">
                <a16:creationId xmlns:a16="http://schemas.microsoft.com/office/drawing/2014/main" id="{E391ABD9-8567-0B48-9480-3D76989C2521}"/>
              </a:ext>
            </a:extLst>
          </p:cNvPr>
          <p:cNvSpPr/>
          <p:nvPr/>
        </p:nvSpPr>
        <p:spPr>
          <a:xfrm rot="20620460">
            <a:off x="9818277" y="6036996"/>
            <a:ext cx="2788878" cy="1014304"/>
          </a:xfrm>
          <a:prstGeom prst="foldedCorner">
            <a:avLst/>
          </a:prstGeom>
          <a:solidFill>
            <a:srgbClr val="F0F42B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anto Dobrado 10">
            <a:extLst>
              <a:ext uri="{FF2B5EF4-FFF2-40B4-BE49-F238E27FC236}">
                <a16:creationId xmlns:a16="http://schemas.microsoft.com/office/drawing/2014/main" id="{CEDC8959-0620-FA4D-B29B-61D0EBDAE9D5}"/>
              </a:ext>
            </a:extLst>
          </p:cNvPr>
          <p:cNvSpPr/>
          <p:nvPr/>
        </p:nvSpPr>
        <p:spPr>
          <a:xfrm rot="21393201">
            <a:off x="12163311" y="8391991"/>
            <a:ext cx="2591950" cy="893530"/>
          </a:xfrm>
          <a:prstGeom prst="foldedCorner">
            <a:avLst/>
          </a:prstGeom>
          <a:solidFill>
            <a:srgbClr val="F0F42B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anto Dobrado 11">
            <a:extLst>
              <a:ext uri="{FF2B5EF4-FFF2-40B4-BE49-F238E27FC236}">
                <a16:creationId xmlns:a16="http://schemas.microsoft.com/office/drawing/2014/main" id="{5831CF23-3CC4-E345-85B9-D3C4290A5D71}"/>
              </a:ext>
            </a:extLst>
          </p:cNvPr>
          <p:cNvSpPr/>
          <p:nvPr/>
        </p:nvSpPr>
        <p:spPr>
          <a:xfrm rot="21393201">
            <a:off x="15393013" y="6483570"/>
            <a:ext cx="2371062" cy="1121728"/>
          </a:xfrm>
          <a:prstGeom prst="foldedCorner">
            <a:avLst/>
          </a:prstGeom>
          <a:solidFill>
            <a:srgbClr val="F0F42B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anto Dobrado 12">
            <a:extLst>
              <a:ext uri="{FF2B5EF4-FFF2-40B4-BE49-F238E27FC236}">
                <a16:creationId xmlns:a16="http://schemas.microsoft.com/office/drawing/2014/main" id="{B4F79537-A614-154B-A3EC-17E6730313F4}"/>
              </a:ext>
            </a:extLst>
          </p:cNvPr>
          <p:cNvSpPr/>
          <p:nvPr/>
        </p:nvSpPr>
        <p:spPr>
          <a:xfrm rot="21274981">
            <a:off x="9660773" y="4020612"/>
            <a:ext cx="2427990" cy="1174796"/>
          </a:xfrm>
          <a:prstGeom prst="foldedCorner">
            <a:avLst/>
          </a:prstGeom>
          <a:solidFill>
            <a:srgbClr val="F0F42B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anto Dobrado 13">
            <a:extLst>
              <a:ext uri="{FF2B5EF4-FFF2-40B4-BE49-F238E27FC236}">
                <a16:creationId xmlns:a16="http://schemas.microsoft.com/office/drawing/2014/main" id="{5E8E385C-9F06-E840-800F-AD4095F61058}"/>
              </a:ext>
            </a:extLst>
          </p:cNvPr>
          <p:cNvSpPr/>
          <p:nvPr/>
        </p:nvSpPr>
        <p:spPr>
          <a:xfrm rot="763502">
            <a:off x="6119611" y="6093125"/>
            <a:ext cx="2228350" cy="879034"/>
          </a:xfrm>
          <a:prstGeom prst="foldedCorner">
            <a:avLst/>
          </a:prstGeom>
          <a:solidFill>
            <a:srgbClr val="92D050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anto Dobrado 14">
            <a:extLst>
              <a:ext uri="{FF2B5EF4-FFF2-40B4-BE49-F238E27FC236}">
                <a16:creationId xmlns:a16="http://schemas.microsoft.com/office/drawing/2014/main" id="{3AC63883-E659-E345-90FF-96011E0DC829}"/>
              </a:ext>
            </a:extLst>
          </p:cNvPr>
          <p:cNvSpPr/>
          <p:nvPr/>
        </p:nvSpPr>
        <p:spPr>
          <a:xfrm rot="20995760">
            <a:off x="14303757" y="3470633"/>
            <a:ext cx="2788878" cy="1177002"/>
          </a:xfrm>
          <a:prstGeom prst="foldedCorner">
            <a:avLst/>
          </a:prstGeom>
          <a:solidFill>
            <a:srgbClr val="F0F42B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Canto Dobrado 15">
            <a:extLst>
              <a:ext uri="{FF2B5EF4-FFF2-40B4-BE49-F238E27FC236}">
                <a16:creationId xmlns:a16="http://schemas.microsoft.com/office/drawing/2014/main" id="{D7DD0D20-D7C6-C140-8DC4-662DC8C0B4A8}"/>
              </a:ext>
            </a:extLst>
          </p:cNvPr>
          <p:cNvSpPr/>
          <p:nvPr/>
        </p:nvSpPr>
        <p:spPr>
          <a:xfrm rot="721753">
            <a:off x="12847211" y="6824884"/>
            <a:ext cx="1969562" cy="1172860"/>
          </a:xfrm>
          <a:prstGeom prst="foldedCorner">
            <a:avLst/>
          </a:prstGeom>
          <a:solidFill>
            <a:srgbClr val="F0F42B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Canto Dobrado 18">
            <a:extLst>
              <a:ext uri="{FF2B5EF4-FFF2-40B4-BE49-F238E27FC236}">
                <a16:creationId xmlns:a16="http://schemas.microsoft.com/office/drawing/2014/main" id="{65290FD9-FE7F-D745-BFA9-D6DB0C7E0091}"/>
              </a:ext>
            </a:extLst>
          </p:cNvPr>
          <p:cNvSpPr/>
          <p:nvPr/>
        </p:nvSpPr>
        <p:spPr>
          <a:xfrm rot="21003060">
            <a:off x="6269084" y="4008431"/>
            <a:ext cx="2245372" cy="955974"/>
          </a:xfrm>
          <a:prstGeom prst="foldedCorner">
            <a:avLst/>
          </a:prstGeom>
          <a:solidFill>
            <a:srgbClr val="92D050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anto Dobrado 19">
            <a:extLst>
              <a:ext uri="{FF2B5EF4-FFF2-40B4-BE49-F238E27FC236}">
                <a16:creationId xmlns:a16="http://schemas.microsoft.com/office/drawing/2014/main" id="{301526FA-3F80-9840-96FC-A27E154E0F0E}"/>
              </a:ext>
            </a:extLst>
          </p:cNvPr>
          <p:cNvSpPr/>
          <p:nvPr/>
        </p:nvSpPr>
        <p:spPr>
          <a:xfrm rot="21334282">
            <a:off x="2948653" y="1682515"/>
            <a:ext cx="3594074" cy="961538"/>
          </a:xfrm>
          <a:prstGeom prst="foldedCorner">
            <a:avLst/>
          </a:prstGeom>
          <a:solidFill>
            <a:srgbClr val="92D050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Canto Dobrado 20">
            <a:extLst>
              <a:ext uri="{FF2B5EF4-FFF2-40B4-BE49-F238E27FC236}">
                <a16:creationId xmlns:a16="http://schemas.microsoft.com/office/drawing/2014/main" id="{CE802745-24E6-2E47-AD32-A8120580D326}"/>
              </a:ext>
            </a:extLst>
          </p:cNvPr>
          <p:cNvSpPr/>
          <p:nvPr/>
        </p:nvSpPr>
        <p:spPr>
          <a:xfrm rot="600748">
            <a:off x="2858344" y="8171764"/>
            <a:ext cx="3006140" cy="913284"/>
          </a:xfrm>
          <a:prstGeom prst="foldedCorner">
            <a:avLst/>
          </a:prstGeom>
          <a:solidFill>
            <a:srgbClr val="92D050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Canto Dobrado 21">
            <a:extLst>
              <a:ext uri="{FF2B5EF4-FFF2-40B4-BE49-F238E27FC236}">
                <a16:creationId xmlns:a16="http://schemas.microsoft.com/office/drawing/2014/main" id="{28E03417-EA28-2F42-B855-516A54779AEE}"/>
              </a:ext>
            </a:extLst>
          </p:cNvPr>
          <p:cNvSpPr/>
          <p:nvPr/>
        </p:nvSpPr>
        <p:spPr>
          <a:xfrm rot="21042216">
            <a:off x="856512" y="3272376"/>
            <a:ext cx="2243064" cy="1154692"/>
          </a:xfrm>
          <a:prstGeom prst="foldedCorner">
            <a:avLst/>
          </a:prstGeom>
          <a:solidFill>
            <a:srgbClr val="92D050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Canto Dobrado 22">
            <a:extLst>
              <a:ext uri="{FF2B5EF4-FFF2-40B4-BE49-F238E27FC236}">
                <a16:creationId xmlns:a16="http://schemas.microsoft.com/office/drawing/2014/main" id="{69401707-E430-0E44-80D9-DC93092B34E4}"/>
              </a:ext>
            </a:extLst>
          </p:cNvPr>
          <p:cNvSpPr/>
          <p:nvPr/>
        </p:nvSpPr>
        <p:spPr>
          <a:xfrm rot="21042216">
            <a:off x="563329" y="6544601"/>
            <a:ext cx="2829430" cy="1334070"/>
          </a:xfrm>
          <a:prstGeom prst="foldedCorner">
            <a:avLst/>
          </a:prstGeom>
          <a:solidFill>
            <a:srgbClr val="92D050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Canto Dobrado 24">
            <a:extLst>
              <a:ext uri="{FF2B5EF4-FFF2-40B4-BE49-F238E27FC236}">
                <a16:creationId xmlns:a16="http://schemas.microsoft.com/office/drawing/2014/main" id="{46C22023-A7EE-E147-BA93-6F6F3DBDA91F}"/>
              </a:ext>
            </a:extLst>
          </p:cNvPr>
          <p:cNvSpPr/>
          <p:nvPr/>
        </p:nvSpPr>
        <p:spPr>
          <a:xfrm rot="962626">
            <a:off x="12643835" y="1692253"/>
            <a:ext cx="2614618" cy="1183718"/>
          </a:xfrm>
          <a:prstGeom prst="foldedCorner">
            <a:avLst/>
          </a:prstGeom>
          <a:solidFill>
            <a:srgbClr val="F0F42B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C6B5462-13E4-F76B-15B3-5B41D47F08D3}"/>
              </a:ext>
            </a:extLst>
          </p:cNvPr>
          <p:cNvSpPr txBox="1"/>
          <p:nvPr/>
        </p:nvSpPr>
        <p:spPr>
          <a:xfrm>
            <a:off x="4572000" y="4956045"/>
            <a:ext cx="1631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18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PERFIL 1</a:t>
            </a:r>
            <a:endParaRPr lang="pt-B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5CD1BAA-7163-2F33-6FA9-45E0CF0B40B7}"/>
              </a:ext>
            </a:extLst>
          </p:cNvPr>
          <p:cNvSpPr txBox="1"/>
          <p:nvPr/>
        </p:nvSpPr>
        <p:spPr>
          <a:xfrm>
            <a:off x="12036925" y="323196"/>
            <a:ext cx="38284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PERFIL 1</a:t>
            </a:r>
            <a:endParaRPr lang="pt-BR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1438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ntendo texto, mapa&#10;&#10;&#10;&#10;Descrição gerada automaticamente">
            <a:extLst>
              <a:ext uri="{FF2B5EF4-FFF2-40B4-BE49-F238E27FC236}">
                <a16:creationId xmlns:a16="http://schemas.microsoft.com/office/drawing/2014/main" id="{33043023-AA5A-2D41-A3DB-D4F9AAC14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850" y="0"/>
            <a:ext cx="14393012" cy="10112832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9894D77-1724-DA4F-9D31-6521BD17A191}"/>
              </a:ext>
            </a:extLst>
          </p:cNvPr>
          <p:cNvSpPr txBox="1"/>
          <p:nvPr/>
        </p:nvSpPr>
        <p:spPr>
          <a:xfrm>
            <a:off x="8798224" y="222112"/>
            <a:ext cx="4003375" cy="453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346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 de Empatia: </a:t>
            </a:r>
            <a:endParaRPr lang="pt-BR" sz="2346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anto Dobrado 11">
            <a:extLst>
              <a:ext uri="{FF2B5EF4-FFF2-40B4-BE49-F238E27FC236}">
                <a16:creationId xmlns:a16="http://schemas.microsoft.com/office/drawing/2014/main" id="{9B93546F-B944-5141-AFF8-20FBA348C439}"/>
              </a:ext>
            </a:extLst>
          </p:cNvPr>
          <p:cNvSpPr/>
          <p:nvPr/>
        </p:nvSpPr>
        <p:spPr>
          <a:xfrm rot="20952879">
            <a:off x="2363279" y="2577467"/>
            <a:ext cx="2476558" cy="754942"/>
          </a:xfrm>
          <a:prstGeom prst="foldedCorner">
            <a:avLst/>
          </a:prstGeom>
          <a:solidFill>
            <a:srgbClr val="F0F42B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anto Dobrado 19">
            <a:extLst>
              <a:ext uri="{FF2B5EF4-FFF2-40B4-BE49-F238E27FC236}">
                <a16:creationId xmlns:a16="http://schemas.microsoft.com/office/drawing/2014/main" id="{94730694-2C21-5A4E-BBA1-B390832566D6}"/>
              </a:ext>
            </a:extLst>
          </p:cNvPr>
          <p:cNvSpPr/>
          <p:nvPr/>
        </p:nvSpPr>
        <p:spPr>
          <a:xfrm rot="21393201">
            <a:off x="5758578" y="1170708"/>
            <a:ext cx="3035308" cy="1263412"/>
          </a:xfrm>
          <a:prstGeom prst="foldedCorner">
            <a:avLst/>
          </a:prstGeom>
          <a:solidFill>
            <a:srgbClr val="F0F42B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Canto Dobrado 20">
            <a:extLst>
              <a:ext uri="{FF2B5EF4-FFF2-40B4-BE49-F238E27FC236}">
                <a16:creationId xmlns:a16="http://schemas.microsoft.com/office/drawing/2014/main" id="{9A5C60F9-72D4-494B-A3FD-2834D7E7612E}"/>
              </a:ext>
            </a:extLst>
          </p:cNvPr>
          <p:cNvSpPr/>
          <p:nvPr/>
        </p:nvSpPr>
        <p:spPr>
          <a:xfrm rot="482975">
            <a:off x="9669149" y="1239668"/>
            <a:ext cx="2788878" cy="1193144"/>
          </a:xfrm>
          <a:prstGeom prst="foldedCorner">
            <a:avLst/>
          </a:prstGeom>
          <a:solidFill>
            <a:srgbClr val="F0F42B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Canto Dobrado 21">
            <a:extLst>
              <a:ext uri="{FF2B5EF4-FFF2-40B4-BE49-F238E27FC236}">
                <a16:creationId xmlns:a16="http://schemas.microsoft.com/office/drawing/2014/main" id="{C4D3FEE4-2C9E-4543-AC84-C82CEFB2381A}"/>
              </a:ext>
            </a:extLst>
          </p:cNvPr>
          <p:cNvSpPr/>
          <p:nvPr/>
        </p:nvSpPr>
        <p:spPr>
          <a:xfrm rot="21393201">
            <a:off x="10574429" y="6653271"/>
            <a:ext cx="2788878" cy="955974"/>
          </a:xfrm>
          <a:prstGeom prst="foldedCorner">
            <a:avLst/>
          </a:prstGeom>
          <a:solidFill>
            <a:srgbClr val="F0F42B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Canto Dobrado 22">
            <a:extLst>
              <a:ext uri="{FF2B5EF4-FFF2-40B4-BE49-F238E27FC236}">
                <a16:creationId xmlns:a16="http://schemas.microsoft.com/office/drawing/2014/main" id="{11E687D0-3532-7349-BC72-B70876695C5E}"/>
              </a:ext>
            </a:extLst>
          </p:cNvPr>
          <p:cNvSpPr/>
          <p:nvPr/>
        </p:nvSpPr>
        <p:spPr>
          <a:xfrm rot="21393201">
            <a:off x="2143771" y="8752010"/>
            <a:ext cx="2788878" cy="1193144"/>
          </a:xfrm>
          <a:prstGeom prst="foldedCorner">
            <a:avLst/>
          </a:prstGeom>
          <a:solidFill>
            <a:srgbClr val="F0F42B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Canto Dobrado 23">
            <a:extLst>
              <a:ext uri="{FF2B5EF4-FFF2-40B4-BE49-F238E27FC236}">
                <a16:creationId xmlns:a16="http://schemas.microsoft.com/office/drawing/2014/main" id="{64996A15-F311-6247-8D82-4F599677C6D1}"/>
              </a:ext>
            </a:extLst>
          </p:cNvPr>
          <p:cNvSpPr/>
          <p:nvPr/>
        </p:nvSpPr>
        <p:spPr>
          <a:xfrm rot="482975">
            <a:off x="5259824" y="8381366"/>
            <a:ext cx="2427780" cy="1193144"/>
          </a:xfrm>
          <a:prstGeom prst="foldedCorner">
            <a:avLst/>
          </a:prstGeom>
          <a:solidFill>
            <a:srgbClr val="F0F42B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Canto Dobrado 24">
            <a:extLst>
              <a:ext uri="{FF2B5EF4-FFF2-40B4-BE49-F238E27FC236}">
                <a16:creationId xmlns:a16="http://schemas.microsoft.com/office/drawing/2014/main" id="{B96FF963-9D36-674F-BCB0-EAE64B5DAD66}"/>
              </a:ext>
            </a:extLst>
          </p:cNvPr>
          <p:cNvSpPr/>
          <p:nvPr/>
        </p:nvSpPr>
        <p:spPr>
          <a:xfrm rot="482975">
            <a:off x="3748865" y="6373049"/>
            <a:ext cx="2788878" cy="955978"/>
          </a:xfrm>
          <a:prstGeom prst="foldedCorner">
            <a:avLst/>
          </a:prstGeom>
          <a:solidFill>
            <a:srgbClr val="F0F42B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Canto Dobrado 26">
            <a:extLst>
              <a:ext uri="{FF2B5EF4-FFF2-40B4-BE49-F238E27FC236}">
                <a16:creationId xmlns:a16="http://schemas.microsoft.com/office/drawing/2014/main" id="{4DAA47E7-12B0-9D44-AE24-C1765EE9316B}"/>
              </a:ext>
            </a:extLst>
          </p:cNvPr>
          <p:cNvSpPr/>
          <p:nvPr/>
        </p:nvSpPr>
        <p:spPr>
          <a:xfrm rot="21334282">
            <a:off x="7354191" y="6373049"/>
            <a:ext cx="2788878" cy="955978"/>
          </a:xfrm>
          <a:prstGeom prst="foldedCorner">
            <a:avLst/>
          </a:prstGeom>
          <a:solidFill>
            <a:srgbClr val="F0F42B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Canto Dobrado 27">
            <a:extLst>
              <a:ext uri="{FF2B5EF4-FFF2-40B4-BE49-F238E27FC236}">
                <a16:creationId xmlns:a16="http://schemas.microsoft.com/office/drawing/2014/main" id="{AE92BE82-1E6A-4A49-B08F-8945AFF096C1}"/>
              </a:ext>
            </a:extLst>
          </p:cNvPr>
          <p:cNvSpPr/>
          <p:nvPr/>
        </p:nvSpPr>
        <p:spPr>
          <a:xfrm rot="20554436">
            <a:off x="12042311" y="3172544"/>
            <a:ext cx="3278826" cy="992988"/>
          </a:xfrm>
          <a:prstGeom prst="foldedCorner">
            <a:avLst/>
          </a:prstGeom>
          <a:solidFill>
            <a:srgbClr val="F0F42B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Canto Dobrado 28">
            <a:extLst>
              <a:ext uri="{FF2B5EF4-FFF2-40B4-BE49-F238E27FC236}">
                <a16:creationId xmlns:a16="http://schemas.microsoft.com/office/drawing/2014/main" id="{2FC93919-3C98-664C-B1C2-458684E85B32}"/>
              </a:ext>
            </a:extLst>
          </p:cNvPr>
          <p:cNvSpPr/>
          <p:nvPr/>
        </p:nvSpPr>
        <p:spPr>
          <a:xfrm rot="21334282">
            <a:off x="13261319" y="5248538"/>
            <a:ext cx="2788878" cy="1129184"/>
          </a:xfrm>
          <a:prstGeom prst="foldedCorner">
            <a:avLst/>
          </a:prstGeom>
          <a:solidFill>
            <a:srgbClr val="F0F42B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Canto Dobrado 29">
            <a:extLst>
              <a:ext uri="{FF2B5EF4-FFF2-40B4-BE49-F238E27FC236}">
                <a16:creationId xmlns:a16="http://schemas.microsoft.com/office/drawing/2014/main" id="{DBC070AB-FFE3-6443-8A47-2373AC646703}"/>
              </a:ext>
            </a:extLst>
          </p:cNvPr>
          <p:cNvSpPr/>
          <p:nvPr/>
        </p:nvSpPr>
        <p:spPr>
          <a:xfrm rot="20952879">
            <a:off x="2640453" y="3993658"/>
            <a:ext cx="2476558" cy="995116"/>
          </a:xfrm>
          <a:prstGeom prst="foldedCorner">
            <a:avLst/>
          </a:prstGeom>
          <a:solidFill>
            <a:srgbClr val="F0F42B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Canto Dobrado 30">
            <a:extLst>
              <a:ext uri="{FF2B5EF4-FFF2-40B4-BE49-F238E27FC236}">
                <a16:creationId xmlns:a16="http://schemas.microsoft.com/office/drawing/2014/main" id="{DF329E12-EE85-F840-9BCC-A698D09CF0B7}"/>
              </a:ext>
            </a:extLst>
          </p:cNvPr>
          <p:cNvSpPr/>
          <p:nvPr/>
        </p:nvSpPr>
        <p:spPr>
          <a:xfrm rot="21393201">
            <a:off x="8824441" y="8758731"/>
            <a:ext cx="2788878" cy="955974"/>
          </a:xfrm>
          <a:prstGeom prst="foldedCorner">
            <a:avLst/>
          </a:prstGeom>
          <a:solidFill>
            <a:srgbClr val="F0F42B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Canto Dobrado 31">
            <a:extLst>
              <a:ext uri="{FF2B5EF4-FFF2-40B4-BE49-F238E27FC236}">
                <a16:creationId xmlns:a16="http://schemas.microsoft.com/office/drawing/2014/main" id="{74021B51-919F-7842-9E86-3B39012BB420}"/>
              </a:ext>
            </a:extLst>
          </p:cNvPr>
          <p:cNvSpPr/>
          <p:nvPr/>
        </p:nvSpPr>
        <p:spPr>
          <a:xfrm rot="21393201">
            <a:off x="12133577" y="8989336"/>
            <a:ext cx="3425930" cy="813188"/>
          </a:xfrm>
          <a:prstGeom prst="foldedCorner">
            <a:avLst/>
          </a:prstGeom>
          <a:solidFill>
            <a:srgbClr val="F0F42B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E11334D-8441-22A5-2CF9-2756F2E2667D}"/>
              </a:ext>
            </a:extLst>
          </p:cNvPr>
          <p:cNvSpPr txBox="1"/>
          <p:nvPr/>
        </p:nvSpPr>
        <p:spPr>
          <a:xfrm>
            <a:off x="6655778" y="174168"/>
            <a:ext cx="1818719" cy="453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346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pt-BR" sz="2346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847C2E4-1385-9A2D-C184-D16E86CBC25A}"/>
              </a:ext>
            </a:extLst>
          </p:cNvPr>
          <p:cNvSpPr txBox="1"/>
          <p:nvPr/>
        </p:nvSpPr>
        <p:spPr>
          <a:xfrm>
            <a:off x="3150990" y="170824"/>
            <a:ext cx="1818719" cy="453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346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2346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PERFIL 2</a:t>
            </a:r>
            <a:endParaRPr lang="pt-BR" sz="2346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492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C879C666-EC25-2C4D-B5B5-76D2C2BB95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561" t="2011" r="25238" b="2011"/>
          <a:stretch/>
        </p:blipFill>
        <p:spPr>
          <a:xfrm>
            <a:off x="9144000" y="924376"/>
            <a:ext cx="8996380" cy="914653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698E1C6-7897-D942-A4F9-ACB823F0CC7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142" r="26538"/>
          <a:stretch/>
        </p:blipFill>
        <p:spPr>
          <a:xfrm>
            <a:off x="191163" y="1116839"/>
            <a:ext cx="8656746" cy="8776154"/>
          </a:xfrm>
          <a:prstGeom prst="rect">
            <a:avLst/>
          </a:prstGeom>
        </p:spPr>
      </p:pic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A769351F-B3A3-D44B-BCEA-EEF175EB357D}"/>
              </a:ext>
            </a:extLst>
          </p:cNvPr>
          <p:cNvCxnSpPr/>
          <p:nvPr/>
        </p:nvCxnSpPr>
        <p:spPr>
          <a:xfrm>
            <a:off x="8586652" y="5509268"/>
            <a:ext cx="1288868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C8508795-EBC2-6347-830B-EF42FBECA1B7}"/>
              </a:ext>
            </a:extLst>
          </p:cNvPr>
          <p:cNvSpPr txBox="1"/>
          <p:nvPr/>
        </p:nvSpPr>
        <p:spPr>
          <a:xfrm>
            <a:off x="6906588" y="324748"/>
            <a:ext cx="50551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Canvas da Proposta de Valor: </a:t>
            </a:r>
            <a:endParaRPr lang="pt-B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anto Dobrado 9">
            <a:extLst>
              <a:ext uri="{FF2B5EF4-FFF2-40B4-BE49-F238E27FC236}">
                <a16:creationId xmlns:a16="http://schemas.microsoft.com/office/drawing/2014/main" id="{E391ABD9-8567-0B48-9480-3D76989C2521}"/>
              </a:ext>
            </a:extLst>
          </p:cNvPr>
          <p:cNvSpPr/>
          <p:nvPr/>
        </p:nvSpPr>
        <p:spPr>
          <a:xfrm rot="20620460">
            <a:off x="9818277" y="6036996"/>
            <a:ext cx="2788878" cy="1014304"/>
          </a:xfrm>
          <a:prstGeom prst="foldedCorner">
            <a:avLst/>
          </a:prstGeom>
          <a:solidFill>
            <a:srgbClr val="F0F42B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anto Dobrado 10">
            <a:extLst>
              <a:ext uri="{FF2B5EF4-FFF2-40B4-BE49-F238E27FC236}">
                <a16:creationId xmlns:a16="http://schemas.microsoft.com/office/drawing/2014/main" id="{CEDC8959-0620-FA4D-B29B-61D0EBDAE9D5}"/>
              </a:ext>
            </a:extLst>
          </p:cNvPr>
          <p:cNvSpPr/>
          <p:nvPr/>
        </p:nvSpPr>
        <p:spPr>
          <a:xfrm rot="21393201">
            <a:off x="12163311" y="8391991"/>
            <a:ext cx="2591950" cy="893530"/>
          </a:xfrm>
          <a:prstGeom prst="foldedCorner">
            <a:avLst/>
          </a:prstGeom>
          <a:solidFill>
            <a:srgbClr val="F0F42B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anto Dobrado 11">
            <a:extLst>
              <a:ext uri="{FF2B5EF4-FFF2-40B4-BE49-F238E27FC236}">
                <a16:creationId xmlns:a16="http://schemas.microsoft.com/office/drawing/2014/main" id="{5831CF23-3CC4-E345-85B9-D3C4290A5D71}"/>
              </a:ext>
            </a:extLst>
          </p:cNvPr>
          <p:cNvSpPr/>
          <p:nvPr/>
        </p:nvSpPr>
        <p:spPr>
          <a:xfrm rot="21393201">
            <a:off x="15393013" y="6483570"/>
            <a:ext cx="2371062" cy="1121728"/>
          </a:xfrm>
          <a:prstGeom prst="foldedCorner">
            <a:avLst/>
          </a:prstGeom>
          <a:solidFill>
            <a:srgbClr val="F0F42B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anto Dobrado 12">
            <a:extLst>
              <a:ext uri="{FF2B5EF4-FFF2-40B4-BE49-F238E27FC236}">
                <a16:creationId xmlns:a16="http://schemas.microsoft.com/office/drawing/2014/main" id="{B4F79537-A614-154B-A3EC-17E6730313F4}"/>
              </a:ext>
            </a:extLst>
          </p:cNvPr>
          <p:cNvSpPr/>
          <p:nvPr/>
        </p:nvSpPr>
        <p:spPr>
          <a:xfrm rot="21274981">
            <a:off x="9660773" y="4020612"/>
            <a:ext cx="2427990" cy="1174796"/>
          </a:xfrm>
          <a:prstGeom prst="foldedCorner">
            <a:avLst/>
          </a:prstGeom>
          <a:solidFill>
            <a:srgbClr val="F0F42B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anto Dobrado 13">
            <a:extLst>
              <a:ext uri="{FF2B5EF4-FFF2-40B4-BE49-F238E27FC236}">
                <a16:creationId xmlns:a16="http://schemas.microsoft.com/office/drawing/2014/main" id="{5E8E385C-9F06-E840-800F-AD4095F61058}"/>
              </a:ext>
            </a:extLst>
          </p:cNvPr>
          <p:cNvSpPr/>
          <p:nvPr/>
        </p:nvSpPr>
        <p:spPr>
          <a:xfrm rot="763502">
            <a:off x="6119611" y="6093125"/>
            <a:ext cx="2228350" cy="879034"/>
          </a:xfrm>
          <a:prstGeom prst="foldedCorner">
            <a:avLst/>
          </a:prstGeom>
          <a:solidFill>
            <a:srgbClr val="92D050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anto Dobrado 14">
            <a:extLst>
              <a:ext uri="{FF2B5EF4-FFF2-40B4-BE49-F238E27FC236}">
                <a16:creationId xmlns:a16="http://schemas.microsoft.com/office/drawing/2014/main" id="{3AC63883-E659-E345-90FF-96011E0DC829}"/>
              </a:ext>
            </a:extLst>
          </p:cNvPr>
          <p:cNvSpPr/>
          <p:nvPr/>
        </p:nvSpPr>
        <p:spPr>
          <a:xfrm rot="20995760">
            <a:off x="14303757" y="3470633"/>
            <a:ext cx="2788878" cy="1177002"/>
          </a:xfrm>
          <a:prstGeom prst="foldedCorner">
            <a:avLst/>
          </a:prstGeom>
          <a:solidFill>
            <a:srgbClr val="F0F42B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Canto Dobrado 15">
            <a:extLst>
              <a:ext uri="{FF2B5EF4-FFF2-40B4-BE49-F238E27FC236}">
                <a16:creationId xmlns:a16="http://schemas.microsoft.com/office/drawing/2014/main" id="{D7DD0D20-D7C6-C140-8DC4-662DC8C0B4A8}"/>
              </a:ext>
            </a:extLst>
          </p:cNvPr>
          <p:cNvSpPr/>
          <p:nvPr/>
        </p:nvSpPr>
        <p:spPr>
          <a:xfrm rot="721753">
            <a:off x="12847211" y="6824884"/>
            <a:ext cx="1969562" cy="1172860"/>
          </a:xfrm>
          <a:prstGeom prst="foldedCorner">
            <a:avLst/>
          </a:prstGeom>
          <a:solidFill>
            <a:srgbClr val="F0F42B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Canto Dobrado 18">
            <a:extLst>
              <a:ext uri="{FF2B5EF4-FFF2-40B4-BE49-F238E27FC236}">
                <a16:creationId xmlns:a16="http://schemas.microsoft.com/office/drawing/2014/main" id="{65290FD9-FE7F-D745-BFA9-D6DB0C7E0091}"/>
              </a:ext>
            </a:extLst>
          </p:cNvPr>
          <p:cNvSpPr/>
          <p:nvPr/>
        </p:nvSpPr>
        <p:spPr>
          <a:xfrm rot="21003060">
            <a:off x="6269084" y="4008431"/>
            <a:ext cx="2245372" cy="955974"/>
          </a:xfrm>
          <a:prstGeom prst="foldedCorner">
            <a:avLst/>
          </a:prstGeom>
          <a:solidFill>
            <a:srgbClr val="92D050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anto Dobrado 19">
            <a:extLst>
              <a:ext uri="{FF2B5EF4-FFF2-40B4-BE49-F238E27FC236}">
                <a16:creationId xmlns:a16="http://schemas.microsoft.com/office/drawing/2014/main" id="{301526FA-3F80-9840-96FC-A27E154E0F0E}"/>
              </a:ext>
            </a:extLst>
          </p:cNvPr>
          <p:cNvSpPr/>
          <p:nvPr/>
        </p:nvSpPr>
        <p:spPr>
          <a:xfrm rot="21334282">
            <a:off x="2948653" y="1682515"/>
            <a:ext cx="3594074" cy="961538"/>
          </a:xfrm>
          <a:prstGeom prst="foldedCorner">
            <a:avLst/>
          </a:prstGeom>
          <a:solidFill>
            <a:srgbClr val="92D050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Canto Dobrado 20">
            <a:extLst>
              <a:ext uri="{FF2B5EF4-FFF2-40B4-BE49-F238E27FC236}">
                <a16:creationId xmlns:a16="http://schemas.microsoft.com/office/drawing/2014/main" id="{CE802745-24E6-2E47-AD32-A8120580D326}"/>
              </a:ext>
            </a:extLst>
          </p:cNvPr>
          <p:cNvSpPr/>
          <p:nvPr/>
        </p:nvSpPr>
        <p:spPr>
          <a:xfrm rot="600748">
            <a:off x="2858344" y="8171764"/>
            <a:ext cx="3006140" cy="913284"/>
          </a:xfrm>
          <a:prstGeom prst="foldedCorner">
            <a:avLst/>
          </a:prstGeom>
          <a:solidFill>
            <a:srgbClr val="92D050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Canto Dobrado 21">
            <a:extLst>
              <a:ext uri="{FF2B5EF4-FFF2-40B4-BE49-F238E27FC236}">
                <a16:creationId xmlns:a16="http://schemas.microsoft.com/office/drawing/2014/main" id="{28E03417-EA28-2F42-B855-516A54779AEE}"/>
              </a:ext>
            </a:extLst>
          </p:cNvPr>
          <p:cNvSpPr/>
          <p:nvPr/>
        </p:nvSpPr>
        <p:spPr>
          <a:xfrm rot="21042216">
            <a:off x="856512" y="3272376"/>
            <a:ext cx="2243064" cy="1154692"/>
          </a:xfrm>
          <a:prstGeom prst="foldedCorner">
            <a:avLst/>
          </a:prstGeom>
          <a:solidFill>
            <a:srgbClr val="92D050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Canto Dobrado 22">
            <a:extLst>
              <a:ext uri="{FF2B5EF4-FFF2-40B4-BE49-F238E27FC236}">
                <a16:creationId xmlns:a16="http://schemas.microsoft.com/office/drawing/2014/main" id="{69401707-E430-0E44-80D9-DC93092B34E4}"/>
              </a:ext>
            </a:extLst>
          </p:cNvPr>
          <p:cNvSpPr/>
          <p:nvPr/>
        </p:nvSpPr>
        <p:spPr>
          <a:xfrm rot="21042216">
            <a:off x="563329" y="6544601"/>
            <a:ext cx="2829430" cy="1334070"/>
          </a:xfrm>
          <a:prstGeom prst="foldedCorner">
            <a:avLst/>
          </a:prstGeom>
          <a:solidFill>
            <a:srgbClr val="92D050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Canto Dobrado 24">
            <a:extLst>
              <a:ext uri="{FF2B5EF4-FFF2-40B4-BE49-F238E27FC236}">
                <a16:creationId xmlns:a16="http://schemas.microsoft.com/office/drawing/2014/main" id="{46C22023-A7EE-E147-BA93-6F6F3DBDA91F}"/>
              </a:ext>
            </a:extLst>
          </p:cNvPr>
          <p:cNvSpPr/>
          <p:nvPr/>
        </p:nvSpPr>
        <p:spPr>
          <a:xfrm rot="962626">
            <a:off x="12643835" y="1692253"/>
            <a:ext cx="2614618" cy="1183718"/>
          </a:xfrm>
          <a:prstGeom prst="foldedCorner">
            <a:avLst/>
          </a:prstGeom>
          <a:solidFill>
            <a:srgbClr val="F0F42B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C6B5462-13E4-F76B-15B3-5B41D47F08D3}"/>
              </a:ext>
            </a:extLst>
          </p:cNvPr>
          <p:cNvSpPr txBox="1"/>
          <p:nvPr/>
        </p:nvSpPr>
        <p:spPr>
          <a:xfrm>
            <a:off x="4572000" y="4956045"/>
            <a:ext cx="1631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18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PERFIL 1</a:t>
            </a:r>
            <a:endParaRPr lang="pt-B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5CD1BAA-7163-2F33-6FA9-45E0CF0B40B7}"/>
              </a:ext>
            </a:extLst>
          </p:cNvPr>
          <p:cNvSpPr txBox="1"/>
          <p:nvPr/>
        </p:nvSpPr>
        <p:spPr>
          <a:xfrm>
            <a:off x="12036925" y="323196"/>
            <a:ext cx="38284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PERFIL 2</a:t>
            </a:r>
            <a:endParaRPr lang="pt-BR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0990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D74E47-93FD-659A-532D-50181436B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0" y="1098163"/>
            <a:ext cx="7467599" cy="722406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>
              <a:lnSpc>
                <a:spcPct val="90000"/>
              </a:lnSpc>
            </a:pPr>
            <a:b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PERGUNTAS E RESPOSTAS PARA A VALIDAÇÃO DO PROBLEMA</a:t>
            </a:r>
            <a:b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1.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Criar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um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formulário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(FORMS) com 3 a 5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perguntas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direcionadas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a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pessoas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que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vocês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acreditam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que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sejam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afetadas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pelo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problema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que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vocês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pretendem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solucionar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.</a:t>
            </a:r>
            <a:b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2.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Aplicar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o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formulário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para pessoas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cada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um dos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perfis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que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você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mapeou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.</a:t>
            </a:r>
            <a:b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Apresentar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os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resultados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.</a:t>
            </a:r>
            <a:b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Graphic 6" descr="Perguntas">
            <a:extLst>
              <a:ext uri="{FF2B5EF4-FFF2-40B4-BE49-F238E27FC236}">
                <a16:creationId xmlns:a16="http://schemas.microsoft.com/office/drawing/2014/main" id="{5F222226-F7C4-6EFC-6F20-2F39C71A01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323" y="4164928"/>
            <a:ext cx="1933577" cy="1933577"/>
          </a:xfrm>
          <a:prstGeom prst="rect">
            <a:avLst/>
          </a:prstGeom>
        </p:spPr>
      </p:pic>
      <p:pic>
        <p:nvPicPr>
          <p:cNvPr id="9" name="Graphic 8" descr="Perguntas">
            <a:extLst>
              <a:ext uri="{FF2B5EF4-FFF2-40B4-BE49-F238E27FC236}">
                <a16:creationId xmlns:a16="http://schemas.microsoft.com/office/drawing/2014/main" id="{F41B612F-07C5-4F25-9DBE-CF49733C27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11722" y="1074610"/>
            <a:ext cx="8117015" cy="8117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105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391051" y="667270"/>
            <a:ext cx="10292785" cy="292089"/>
            <a:chOff x="0" y="0"/>
            <a:chExt cx="3400456" cy="964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00456" cy="96498"/>
            </a:xfrm>
            <a:custGeom>
              <a:avLst/>
              <a:gdLst/>
              <a:ahLst/>
              <a:cxnLst/>
              <a:rect l="l" t="t" r="r" b="b"/>
              <a:pathLst>
                <a:path w="3400456" h="96498">
                  <a:moveTo>
                    <a:pt x="9778" y="0"/>
                  </a:moveTo>
                  <a:lnTo>
                    <a:pt x="3390678" y="0"/>
                  </a:lnTo>
                  <a:cubicBezTo>
                    <a:pt x="3393271" y="0"/>
                    <a:pt x="3395758" y="1030"/>
                    <a:pt x="3397592" y="2864"/>
                  </a:cubicBezTo>
                  <a:cubicBezTo>
                    <a:pt x="3399425" y="4698"/>
                    <a:pt x="3400456" y="7185"/>
                    <a:pt x="3400456" y="9778"/>
                  </a:cubicBezTo>
                  <a:lnTo>
                    <a:pt x="3400456" y="86720"/>
                  </a:lnTo>
                  <a:cubicBezTo>
                    <a:pt x="3400456" y="89313"/>
                    <a:pt x="3399425" y="91800"/>
                    <a:pt x="3397592" y="93634"/>
                  </a:cubicBezTo>
                  <a:cubicBezTo>
                    <a:pt x="3395758" y="95468"/>
                    <a:pt x="3393271" y="96498"/>
                    <a:pt x="3390678" y="96498"/>
                  </a:cubicBezTo>
                  <a:lnTo>
                    <a:pt x="9778" y="96498"/>
                  </a:lnTo>
                  <a:cubicBezTo>
                    <a:pt x="7185" y="96498"/>
                    <a:pt x="4698" y="95468"/>
                    <a:pt x="2864" y="93634"/>
                  </a:cubicBezTo>
                  <a:cubicBezTo>
                    <a:pt x="1030" y="91800"/>
                    <a:pt x="0" y="89313"/>
                    <a:pt x="0" y="86720"/>
                  </a:cubicBezTo>
                  <a:lnTo>
                    <a:pt x="0" y="9778"/>
                  </a:lnTo>
                  <a:cubicBezTo>
                    <a:pt x="0" y="7185"/>
                    <a:pt x="1030" y="4698"/>
                    <a:pt x="2864" y="2864"/>
                  </a:cubicBezTo>
                  <a:cubicBezTo>
                    <a:pt x="4698" y="1030"/>
                    <a:pt x="7185" y="0"/>
                    <a:pt x="9778" y="0"/>
                  </a:cubicBezTo>
                  <a:close/>
                </a:path>
              </a:pathLst>
            </a:custGeom>
            <a:solidFill>
              <a:srgbClr val="F8AF24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353823" y="1852022"/>
            <a:ext cx="10047148" cy="319382"/>
            <a:chOff x="0" y="0"/>
            <a:chExt cx="3319304" cy="1055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319304" cy="105515"/>
            </a:xfrm>
            <a:custGeom>
              <a:avLst/>
              <a:gdLst/>
              <a:ahLst/>
              <a:cxnLst/>
              <a:rect l="l" t="t" r="r" b="b"/>
              <a:pathLst>
                <a:path w="3319304" h="105515">
                  <a:moveTo>
                    <a:pt x="10017" y="0"/>
                  </a:moveTo>
                  <a:lnTo>
                    <a:pt x="3309286" y="0"/>
                  </a:lnTo>
                  <a:cubicBezTo>
                    <a:pt x="3314819" y="0"/>
                    <a:pt x="3319304" y="4485"/>
                    <a:pt x="3319304" y="10017"/>
                  </a:cubicBezTo>
                  <a:lnTo>
                    <a:pt x="3319304" y="95498"/>
                  </a:lnTo>
                  <a:cubicBezTo>
                    <a:pt x="3319304" y="98155"/>
                    <a:pt x="3318248" y="100703"/>
                    <a:pt x="3316370" y="102581"/>
                  </a:cubicBezTo>
                  <a:cubicBezTo>
                    <a:pt x="3314491" y="104460"/>
                    <a:pt x="3311943" y="105515"/>
                    <a:pt x="3309286" y="105515"/>
                  </a:cubicBezTo>
                  <a:lnTo>
                    <a:pt x="10017" y="105515"/>
                  </a:lnTo>
                  <a:cubicBezTo>
                    <a:pt x="7361" y="105515"/>
                    <a:pt x="4813" y="104460"/>
                    <a:pt x="2934" y="102581"/>
                  </a:cubicBezTo>
                  <a:cubicBezTo>
                    <a:pt x="1055" y="100703"/>
                    <a:pt x="0" y="98155"/>
                    <a:pt x="0" y="95498"/>
                  </a:cubicBezTo>
                  <a:lnTo>
                    <a:pt x="0" y="10017"/>
                  </a:lnTo>
                  <a:cubicBezTo>
                    <a:pt x="0" y="7361"/>
                    <a:pt x="1055" y="4813"/>
                    <a:pt x="2934" y="2934"/>
                  </a:cubicBezTo>
                  <a:cubicBezTo>
                    <a:pt x="4813" y="1055"/>
                    <a:pt x="7361" y="0"/>
                    <a:pt x="10017" y="0"/>
                  </a:cubicBezTo>
                  <a:close/>
                </a:path>
              </a:pathLst>
            </a:custGeom>
            <a:solidFill>
              <a:srgbClr val="DC4B4C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380380" y="1240535"/>
            <a:ext cx="7763620" cy="7763620"/>
            <a:chOff x="0" y="0"/>
            <a:chExt cx="3282950" cy="32829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282950" cy="3282950"/>
            </a:xfrm>
            <a:custGeom>
              <a:avLst/>
              <a:gdLst/>
              <a:ahLst/>
              <a:cxnLst/>
              <a:rect l="l" t="t" r="r" b="b"/>
              <a:pathLst>
                <a:path w="3282950" h="3282950">
                  <a:moveTo>
                    <a:pt x="0" y="0"/>
                  </a:moveTo>
                  <a:lnTo>
                    <a:pt x="2532380" y="0"/>
                  </a:lnTo>
                  <a:cubicBezTo>
                    <a:pt x="2946400" y="0"/>
                    <a:pt x="3282950" y="336550"/>
                    <a:pt x="3282950" y="750570"/>
                  </a:cubicBezTo>
                  <a:lnTo>
                    <a:pt x="3282950" y="750570"/>
                  </a:lnTo>
                  <a:lnTo>
                    <a:pt x="3282950" y="3282950"/>
                  </a:lnTo>
                  <a:lnTo>
                    <a:pt x="3282950" y="3282950"/>
                  </a:lnTo>
                  <a:lnTo>
                    <a:pt x="0" y="3282950"/>
                  </a:lnTo>
                  <a:lnTo>
                    <a:pt x="0" y="328295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AF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013146" y="-808259"/>
            <a:ext cx="2951057" cy="2951057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DC4B4C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524495" y="2728797"/>
            <a:ext cx="5475389" cy="1431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415"/>
              </a:lnSpc>
            </a:pPr>
            <a:r>
              <a:rPr lang="pt-BR" sz="4000" dirty="0"/>
              <a:t>O que será avaliado</a:t>
            </a:r>
            <a:endParaRPr lang="en-US" sz="4000" dirty="0">
              <a:solidFill>
                <a:srgbClr val="0B5B72"/>
              </a:solidFill>
              <a:latin typeface="Lovelo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16632569" y="474960"/>
            <a:ext cx="1253463" cy="1107479"/>
          </a:xfrm>
          <a:custGeom>
            <a:avLst/>
            <a:gdLst/>
            <a:ahLst/>
            <a:cxnLst/>
            <a:rect l="l" t="t" r="r" b="b"/>
            <a:pathLst>
              <a:path w="1253463" h="1107479">
                <a:moveTo>
                  <a:pt x="0" y="0"/>
                </a:moveTo>
                <a:lnTo>
                  <a:pt x="1253462" y="0"/>
                </a:lnTo>
                <a:lnTo>
                  <a:pt x="1253462" y="1107480"/>
                </a:lnTo>
                <a:lnTo>
                  <a:pt x="0" y="11074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98937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9" name="TextBox 19"/>
          <p:cNvSpPr txBox="1"/>
          <p:nvPr/>
        </p:nvSpPr>
        <p:spPr>
          <a:xfrm>
            <a:off x="9678200" y="2728797"/>
            <a:ext cx="6611608" cy="510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/>
              <a:t>Coerência entre o problema proposto e as demais etapas;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/>
              <a:t>Sentido do que está escrito (se é possível compreender);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/>
              <a:t>Correção gramatical;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/>
              <a:t>Organização das ideias e capricho;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/>
              <a:t>Pertinência do problema escolhido e a clareza do que está descrito;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/>
              <a:t>Qualidade das informações apresentadas.</a:t>
            </a:r>
          </a:p>
          <a:p>
            <a:endParaRPr lang="pt-BR" sz="4000" dirty="0"/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784723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466607" y="650286"/>
            <a:ext cx="10292785" cy="292089"/>
            <a:chOff x="0" y="0"/>
            <a:chExt cx="3400456" cy="964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00456" cy="96498"/>
            </a:xfrm>
            <a:custGeom>
              <a:avLst/>
              <a:gdLst/>
              <a:ahLst/>
              <a:cxnLst/>
              <a:rect l="l" t="t" r="r" b="b"/>
              <a:pathLst>
                <a:path w="3400456" h="96498">
                  <a:moveTo>
                    <a:pt x="9778" y="0"/>
                  </a:moveTo>
                  <a:lnTo>
                    <a:pt x="3390678" y="0"/>
                  </a:lnTo>
                  <a:cubicBezTo>
                    <a:pt x="3393271" y="0"/>
                    <a:pt x="3395758" y="1030"/>
                    <a:pt x="3397592" y="2864"/>
                  </a:cubicBezTo>
                  <a:cubicBezTo>
                    <a:pt x="3399425" y="4698"/>
                    <a:pt x="3400456" y="7185"/>
                    <a:pt x="3400456" y="9778"/>
                  </a:cubicBezTo>
                  <a:lnTo>
                    <a:pt x="3400456" y="86720"/>
                  </a:lnTo>
                  <a:cubicBezTo>
                    <a:pt x="3400456" y="89313"/>
                    <a:pt x="3399425" y="91800"/>
                    <a:pt x="3397592" y="93634"/>
                  </a:cubicBezTo>
                  <a:cubicBezTo>
                    <a:pt x="3395758" y="95468"/>
                    <a:pt x="3393271" y="96498"/>
                    <a:pt x="3390678" y="96498"/>
                  </a:cubicBezTo>
                  <a:lnTo>
                    <a:pt x="9778" y="96498"/>
                  </a:lnTo>
                  <a:cubicBezTo>
                    <a:pt x="7185" y="96498"/>
                    <a:pt x="4698" y="95468"/>
                    <a:pt x="2864" y="93634"/>
                  </a:cubicBezTo>
                  <a:cubicBezTo>
                    <a:pt x="1030" y="91800"/>
                    <a:pt x="0" y="89313"/>
                    <a:pt x="0" y="86720"/>
                  </a:cubicBezTo>
                  <a:lnTo>
                    <a:pt x="0" y="9778"/>
                  </a:lnTo>
                  <a:cubicBezTo>
                    <a:pt x="0" y="7185"/>
                    <a:pt x="1030" y="4698"/>
                    <a:pt x="2864" y="2864"/>
                  </a:cubicBezTo>
                  <a:cubicBezTo>
                    <a:pt x="4698" y="1030"/>
                    <a:pt x="7185" y="0"/>
                    <a:pt x="9778" y="0"/>
                  </a:cubicBezTo>
                  <a:close/>
                </a:path>
              </a:pathLst>
            </a:custGeom>
            <a:solidFill>
              <a:srgbClr val="F8AF24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013146" y="-808259"/>
            <a:ext cx="2951057" cy="2951057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DC4B4C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125655" y="1592661"/>
            <a:ext cx="5475389" cy="3108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415"/>
              </a:lnSpc>
            </a:pPr>
            <a:r>
              <a:rPr lang="en-US" sz="4400" dirty="0" err="1">
                <a:solidFill>
                  <a:srgbClr val="0B5B72"/>
                </a:solidFill>
                <a:latin typeface="Lovelo"/>
              </a:rPr>
              <a:t>sugestão</a:t>
            </a:r>
            <a:endParaRPr lang="en-US" sz="4400" dirty="0">
              <a:solidFill>
                <a:srgbClr val="0B5B72"/>
              </a:solidFill>
              <a:latin typeface="Lovelo"/>
            </a:endParaRPr>
          </a:p>
          <a:p>
            <a:pPr>
              <a:lnSpc>
                <a:spcPts val="13415"/>
              </a:lnSpc>
            </a:pPr>
            <a:r>
              <a:rPr lang="en-US" sz="2800" dirty="0">
                <a:solidFill>
                  <a:srgbClr val="0B5B72"/>
                </a:solidFill>
                <a:latin typeface="Lovelo"/>
              </a:rPr>
              <a:t>Como </a:t>
            </a:r>
            <a:r>
              <a:rPr lang="en-US" sz="2800" dirty="0" err="1">
                <a:solidFill>
                  <a:srgbClr val="0B5B72"/>
                </a:solidFill>
                <a:latin typeface="Lovelo"/>
              </a:rPr>
              <a:t>fazer</a:t>
            </a:r>
            <a:r>
              <a:rPr lang="en-US" sz="2800" dirty="0">
                <a:solidFill>
                  <a:srgbClr val="0B5B72"/>
                </a:solidFill>
                <a:latin typeface="Lovelo"/>
              </a:rPr>
              <a:t> o </a:t>
            </a:r>
            <a:r>
              <a:rPr lang="en-US" sz="2800" dirty="0" err="1">
                <a:solidFill>
                  <a:srgbClr val="0B5B72"/>
                </a:solidFill>
                <a:latin typeface="Lovelo"/>
              </a:rPr>
              <a:t>trabalho</a:t>
            </a:r>
            <a:endParaRPr lang="en-US" sz="2800" dirty="0">
              <a:solidFill>
                <a:srgbClr val="0B5B72"/>
              </a:solidFill>
              <a:latin typeface="Lovelo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16632569" y="474960"/>
            <a:ext cx="1253463" cy="1107479"/>
          </a:xfrm>
          <a:custGeom>
            <a:avLst/>
            <a:gdLst/>
            <a:ahLst/>
            <a:cxnLst/>
            <a:rect l="l" t="t" r="r" b="b"/>
            <a:pathLst>
              <a:path w="1253463" h="1107479">
                <a:moveTo>
                  <a:pt x="0" y="0"/>
                </a:moveTo>
                <a:lnTo>
                  <a:pt x="1253462" y="0"/>
                </a:lnTo>
                <a:lnTo>
                  <a:pt x="1253462" y="1107480"/>
                </a:lnTo>
                <a:lnTo>
                  <a:pt x="0" y="11074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98937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9" name="TextBox 19"/>
          <p:cNvSpPr txBox="1"/>
          <p:nvPr/>
        </p:nvSpPr>
        <p:spPr>
          <a:xfrm>
            <a:off x="7674545" y="796330"/>
            <a:ext cx="8480224" cy="109592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11"/>
              </a:lnSpc>
            </a:pPr>
            <a:endParaRPr lang="pt-BR" sz="2400" dirty="0">
              <a:solidFill>
                <a:srgbClr val="374151"/>
              </a:solidFill>
              <a:latin typeface="Söhne"/>
            </a:endParaRPr>
          </a:p>
          <a:p>
            <a:pPr marL="342900" indent="-342900">
              <a:lnSpc>
                <a:spcPts val="3911"/>
              </a:lnSpc>
              <a:buFont typeface="Arial" panose="020B0604020202020204" pitchFamily="34" charset="0"/>
              <a:buChar char="•"/>
            </a:pPr>
            <a:endParaRPr lang="pt-BR" sz="2400" b="1" dirty="0">
              <a:latin typeface="Söhne"/>
            </a:endParaRPr>
          </a:p>
          <a:p>
            <a:pPr marL="342900" indent="-342900">
              <a:lnSpc>
                <a:spcPts val="3911"/>
              </a:lnSpc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374151"/>
                </a:solidFill>
                <a:latin typeface="Söhne"/>
              </a:rPr>
              <a:t>Revisem as atividades que foram feitas em sala de aula;</a:t>
            </a:r>
          </a:p>
          <a:p>
            <a:pPr marL="342900" indent="-342900">
              <a:lnSpc>
                <a:spcPts val="3911"/>
              </a:lnSpc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374151"/>
                </a:solidFill>
                <a:latin typeface="Söhne"/>
              </a:rPr>
              <a:t>Alterem, melhorem e corrijam o que for necessário;</a:t>
            </a:r>
          </a:p>
          <a:p>
            <a:pPr marL="342900" indent="-342900">
              <a:lnSpc>
                <a:spcPts val="3911"/>
              </a:lnSpc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374151"/>
                </a:solidFill>
                <a:latin typeface="Söhne"/>
              </a:rPr>
              <a:t>Passem as atividades a limpo antes de entregar entregar;</a:t>
            </a:r>
          </a:p>
          <a:p>
            <a:pPr marL="342900" indent="-342900">
              <a:lnSpc>
                <a:spcPts val="3911"/>
              </a:lnSpc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374151"/>
                </a:solidFill>
                <a:latin typeface="Söhne"/>
              </a:rPr>
              <a:t>Revisitem a ideia agora que já sabem muito mais sobre o problema e perfil dos clientes;</a:t>
            </a:r>
          </a:p>
          <a:p>
            <a:pPr marL="342900" indent="-342900">
              <a:lnSpc>
                <a:spcPts val="3911"/>
              </a:lnSpc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374151"/>
                </a:solidFill>
                <a:latin typeface="Söhne"/>
              </a:rPr>
              <a:t>Deixem o mais organizado possível para que faça sentido.</a:t>
            </a:r>
          </a:p>
          <a:p>
            <a:pPr marL="342900" indent="-342900">
              <a:lnSpc>
                <a:spcPts val="3911"/>
              </a:lnSpc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374151"/>
              </a:solidFill>
              <a:latin typeface="Söhne"/>
            </a:endParaRPr>
          </a:p>
          <a:p>
            <a:pPr>
              <a:lnSpc>
                <a:spcPts val="3911"/>
              </a:lnSpc>
            </a:pPr>
            <a:r>
              <a:rPr lang="pt-BR" sz="3200" dirty="0">
                <a:solidFill>
                  <a:srgbClr val="374151"/>
                </a:solidFill>
                <a:latin typeface="Söhne"/>
              </a:rPr>
              <a:t>Essa etapa servirá como base para a continuidade do projeto. </a:t>
            </a:r>
          </a:p>
          <a:p>
            <a:pPr marL="342900" indent="-342900">
              <a:lnSpc>
                <a:spcPts val="3911"/>
              </a:lnSpc>
              <a:buFont typeface="Arial" panose="020B0604020202020204" pitchFamily="34" charset="0"/>
              <a:buChar char="•"/>
            </a:pPr>
            <a:endParaRPr lang="pt-BR" sz="24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342900" indent="-342900">
              <a:lnSpc>
                <a:spcPts val="3911"/>
              </a:lnSpc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374151"/>
              </a:solidFill>
              <a:latin typeface="Söhne"/>
            </a:endParaRPr>
          </a:p>
          <a:p>
            <a:pPr algn="r">
              <a:lnSpc>
                <a:spcPts val="3911"/>
              </a:lnSpc>
            </a:pPr>
            <a:r>
              <a:rPr lang="pt-BR" sz="3600" dirty="0">
                <a:solidFill>
                  <a:srgbClr val="374151"/>
                </a:solidFill>
                <a:latin typeface="Söhne"/>
              </a:rPr>
              <a:t>BOM TRABALHO!</a:t>
            </a:r>
            <a:endParaRPr lang="pt-BR" sz="36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342900" indent="-342900">
              <a:lnSpc>
                <a:spcPts val="3911"/>
              </a:lnSpc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374151"/>
              </a:solidFill>
              <a:latin typeface="Söhne"/>
            </a:endParaRPr>
          </a:p>
          <a:p>
            <a:pPr marL="342900" indent="-342900">
              <a:lnSpc>
                <a:spcPts val="3911"/>
              </a:lnSpc>
              <a:buFont typeface="Arial" panose="020B0604020202020204" pitchFamily="34" charset="0"/>
              <a:buChar char="•"/>
            </a:pPr>
            <a:endParaRPr lang="pt-BR" sz="24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342900" indent="-342900">
              <a:lnSpc>
                <a:spcPts val="3911"/>
              </a:lnSpc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374151"/>
              </a:solidFill>
              <a:latin typeface="Söhne"/>
            </a:endParaRPr>
          </a:p>
          <a:p>
            <a:pPr marL="342900" indent="-342900">
              <a:lnSpc>
                <a:spcPts val="3911"/>
              </a:lnSpc>
              <a:buFont typeface="Arial" panose="020B0604020202020204" pitchFamily="34" charset="0"/>
              <a:buChar char="•"/>
            </a:pPr>
            <a:endParaRPr lang="pt-BR" sz="24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pic>
        <p:nvPicPr>
          <p:cNvPr id="24" name="Gráfico 23" descr="Debate de grupo com preenchimento sólido">
            <a:extLst>
              <a:ext uri="{FF2B5EF4-FFF2-40B4-BE49-F238E27FC236}">
                <a16:creationId xmlns:a16="http://schemas.microsoft.com/office/drawing/2014/main" id="{22085A40-A95D-36A4-ADD1-1DB36BEE5E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028824" y="5334827"/>
            <a:ext cx="2705351" cy="2705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025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7995</TotalTime>
  <Words>407</Words>
  <Application>Microsoft Office PowerPoint</Application>
  <PresentationFormat>Personalizar</PresentationFormat>
  <Paragraphs>63</Paragraphs>
  <Slides>12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Lovelo</vt:lpstr>
      <vt:lpstr>Calibri</vt:lpstr>
      <vt:lpstr>Arial</vt:lpstr>
      <vt:lpstr>Söhne</vt:lpstr>
      <vt:lpstr>Montserrat Classic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     PERGUNTAS E RESPOSTAS PARA A VALIDAÇÃO DO PROBLEMA  1. Criar um formulário (FORMS) com 3 a 5 perguntas direcionadas a pessoas que vocês acreditam que sejam afetadas pelo problema que vocês pretendem solucionar.  2. Aplicar o formulário para pessoas de cada um dos perfis que você mapeou.  3. Apresentar os resultados.    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</dc:title>
  <dc:creator>Julia Gebara</dc:creator>
  <cp:lastModifiedBy>JULIA GEBARA GOMES</cp:lastModifiedBy>
  <cp:revision>68</cp:revision>
  <dcterms:created xsi:type="dcterms:W3CDTF">2006-08-16T00:00:00Z</dcterms:created>
  <dcterms:modified xsi:type="dcterms:W3CDTF">2025-09-17T01:07:41Z</dcterms:modified>
  <dc:identifier>DAFrtRr95hk</dc:identifier>
</cp:coreProperties>
</file>