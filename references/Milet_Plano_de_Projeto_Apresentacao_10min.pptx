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~20s
Abrir com a ideia central: a Milet não é apenas um marketplace de energia. O projeto quer organizar a jornada completa de decisão, da leitura da fatura até a comprovação de resultado e a próxima decisão. Esta apresentação resume o plano; o relatório contém o backlog completo e os critérios de aceite.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~55s
Em 2024, todos os consumidores do Grupo A passaram a poder migrar. O Decreto 13.097/2026 abre a baixa tensão industrial e comercial em novembro de 2027 e os demais consumidores em novembro de 2028. O mesmo decreto prevê uma plataforma centralizada da CCEE para comparar ofertas. Isso é importante porque elimina uma tese fraca: “seremos um comparador”. No primeiro trimestre de 2026, a CCEE registrou 4.827 migrações e mais de 70% pelo modelo simplificado. O nosso plano, portanto, é complementar essa infraestrutura e resolver a decisão e a operação em torno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~55s
A formulação do problema saiu de “como criar um marketplace?” para “o que realmente precisa ser resolvido?”. Para o consumidor, o problema é entender alternativas e comparar propostas sob as mesmas premissas. Para a oferta, é receber demanda qualificada e dados suficientes. A causa estrutural é que cada participante resolve apenas a própria etapa. A hipótese da Milet é preservar o contexto do usuário do primeiro dado até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~55s
A solução é descrita em cinco camadas. Primeiro, transformar a conta e o contexto em uma decisão. Depois, gerar competição quando fizer sentido. Terceiro, executar o processo e não abandonar o cliente após a escolha. Quarto, comprovar o resultado. Quinto, reavaliar no próximo ciclo. A Milet não se propõe a substituir distribuidoras, CCEE ou comercializadoras reguladas. Ela é a camada digital que conecta a experiência.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~50s
O perfil prioritário é a PME: um decisor que tem custo de energia relevante, mas não quer se tornar especialista no setor. Do outro lado, o fornecedor precisa receber oportunidades mais maduras. O operador Milet é importante porque o MVP será assistido: exceções e integrações podem ser manuais, desde que estejam explícitas no sistema. O EPC permanece no domínio para as rotas de geração própria. Residencial, B2B2C e investidores ficam mapeados, mas não dirigem a primeira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~45s
A jornada tem seis etapas. A conta entra, vira Passaporte Energético, alimenta diagnóstico, depois RFQ e comparação, execução e finalmente acompanhamento. O ponto importante é continuidade: cada etapa herda dados e decisão da anterior. Mesmo que distribuidora, assinatura ou integração externa sejam simuladas no MVP, o estado e as responsabilidades precisam existir no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~70s
Essas quatro histórias mostram como o problema vira requisito. A US-002 evita digitação e cria dados rastreáveis. A US-006 é importante porque o sistema não pode simplesmente recomendar uma solução: precisa dizer quais rotas se aplicam e justificar. A US-010 abre o RFQ reutilizando o Passaporte e controlando o que é compartilhado. A US-013 fecha o primeiro ciclo com comparação lado a lado usando a mesma baseline e os mesmos campos.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~70s
O segundo grupo explica o valor pós-comparação. A US-019 evita que o cliente assine e volte para e-mail e WhatsApp sem visibilidade. A US-021 cria o Savings Ledger: o que foi prometido versus o que foi realizado. E a US-027 garante que uma decisão possa ser reconstruída: qual dado entrou, qual regra foi usada e onde houve revisão humana. Essa trilha de auditoria é especialmente importante em um domínio regulado e sensível.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~55s
O backlog completo tem 28 histórias em seis épicos. Para o MVP de 19 de outubro, o recorte P0 tem 14 histórias que sustentam a narrativa ponta a ponta. O restante vira piloto assistido e roadmap. A gestão será simples: sprint semanal para ter objetivo e revisão, Kanban para fluxo diário, MoSCoW para proteger escopo e Definition of Ready/Done para impedir histórias mal definidas. O Fibery concentra produto e artefatos; o GitHub concentra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~60s
O estado da arte reduz duas ilusões. Primeiro: marketplace, P2P, comparação e gestão já existem em vários formatos. Segundo: tecnologia de matching sozinha não resolve adoção. A literatura destaca desenho de mercado, governança, privacidade e modelos de negócio. No Brasil, marketplaces privados já existem, e a CCEE terá comparação centralizada. As referências internacionais mostram duas peças interessantes: normalização de propostas e gestão recorrente. O que vamos testar é a composição dessas peças em uma experiência contínua.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~50s
O Canvas é versão 0.1. O segmento inicial é PME, não residencial mass market. A proposta de valor é a jornada, não “desconto na conta”. As receitas ainda são hipóteses: success fee ou margem por transação, assinatura do Autopilot e SaaS para atores da oferta. O ponto de governança é que qualquer remuneração precisa ser transparente e nunca alterar secretamente o ranking. O Canvas também gera perguntas para a validação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~50s
Fechar reforçando o recorte. Hoje entregamos problema, estado da arte, usuários, backlog, gestão e Canvas. O próximo marco é 19 de outubro: um MVP que demonstre a narrativa completa, ainda que algumas etapas sejam assistidas. Depois entram segurança, validação e refinamento. Não precisamos provar toda a visão da empresa nesta disciplina; precisamos provar que um fluxo estruturado da fatura à economia é tecnicamente demonstrável e gera valor suficiente para justificar a próxima iteração.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LET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MILET · PLANO DE PROJETO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CDB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51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A1A1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Milet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749808" y="1938528"/>
            <a:ext cx="1097280" cy="0"/>
          </a:xfrm>
          <a:prstGeom prst="line">
            <a:avLst/>
          </a:prstGeom>
          <a:noFill/>
          <a:ln w="29210">
            <a:solidFill>
              <a:srgbClr val="D39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267712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dado da fatura à próxima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energética.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8096" y="37947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Projeto · Projetos de Engenharia da Computação I · 2026-2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4206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Eduardo Ferreira de Mattos · [adicionar demais integrantes]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635240" y="804672"/>
            <a:ext cx="3794760" cy="519379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325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47888" y="1993392"/>
            <a:ext cx="320040" cy="320040"/>
          </a:xfrm>
          <a:prstGeom prst="ellipse">
            <a:avLst/>
          </a:prstGeom>
          <a:solidFill>
            <a:srgbClr val="D39B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3336" y="2313432"/>
            <a:ext cx="0" cy="566928"/>
          </a:xfrm>
          <a:prstGeom prst="line">
            <a:avLst/>
          </a:prstGeom>
          <a:noFill/>
          <a:ln w="16510">
            <a:solidFill>
              <a:srgbClr val="C9B8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19751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2880360"/>
            <a:ext cx="320040" cy="320040"/>
          </a:xfrm>
          <a:prstGeom prst="ellipse">
            <a:avLst/>
          </a:prstGeom>
          <a:solidFill>
            <a:srgbClr val="B87333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3336" y="3200400"/>
            <a:ext cx="0" cy="566928"/>
          </a:xfrm>
          <a:prstGeom prst="line">
            <a:avLst/>
          </a:prstGeom>
          <a:noFill/>
          <a:ln w="16510">
            <a:solidFill>
              <a:srgbClr val="C9B8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8620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3767328"/>
            <a:ext cx="320040" cy="320040"/>
          </a:xfrm>
          <a:prstGeom prst="ellipse">
            <a:avLst/>
          </a:prstGeom>
          <a:solidFill>
            <a:srgbClr val="D39B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3336" y="4087368"/>
            <a:ext cx="0" cy="566928"/>
          </a:xfrm>
          <a:prstGeom prst="line">
            <a:avLst/>
          </a:prstGeom>
          <a:noFill/>
          <a:ln w="16510">
            <a:solidFill>
              <a:srgbClr val="C9B8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3749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contínua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47888" y="4654296"/>
            <a:ext cx="320040" cy="320040"/>
          </a:xfrm>
          <a:prstGeom prst="ellipse">
            <a:avLst/>
          </a:prstGeom>
          <a:solidFill>
            <a:srgbClr val="B87333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4636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53309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B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MVP: fatura → diagnóstico → comparação → execução → economia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DE MERCADO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timing mudou — e o comparador puro ficou frágil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abertura amplia a escolha do consumidor, enquanto a própria infraestrutura oficial avança em digitalização e comparação.</a:t>
            </a:r>
            <a:endParaRPr lang="en-US" sz="1220" dirty="0"/>
          </a:p>
        </p:txBody>
      </p:sp>
      <p:pic>
        <p:nvPicPr>
          <p:cNvPr id="5" name="Image 0" descr="/mnt/data/milet_report_asse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7406640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874520"/>
            <a:ext cx="308152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3648" y="203911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CCEE · Q1 2026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8613648" y="228600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4.827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613648" y="2660904"/>
            <a:ext cx="267919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migrações para o mercado livre no 1º trimestre de 2026.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668512" y="3310128"/>
            <a:ext cx="2542032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41664" y="336499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&gt;70% via modelo simplificado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997696" y="3694176"/>
            <a:ext cx="1883664" cy="292608"/>
          </a:xfrm>
          <a:prstGeom prst="roundRect">
            <a:avLst/>
          </a:prstGeom>
          <a:solidFill>
            <a:srgbClr val="F4EBDD"/>
          </a:solidFill>
          <a:ln w="12700">
            <a:solidFill>
              <a:srgbClr val="F4EB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70848" y="3749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3.387 via API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85800" y="4608576"/>
            <a:ext cx="1080820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4828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IMPLICAÇÃO PARA O PROJETO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941832" y="50932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Milet precisa gerar valor antes e depois do preço: contexto, execução, memória de dados, economia realizada e reotimização.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5216" y="61996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8179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Decreto nº 13.097/2026 (Planalto); CCEE, 11/05/2026.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TRATADO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não é falta de oferta. É uma jornada fragmentada.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e oferta trabalham com dados, linguagem, documentos e objetivos diferentes — e a decisão perde contexto no caminho.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401568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0312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LADO DA DEMANDA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59536" y="23500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/ PME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724912"/>
            <a:ext cx="29992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Não sabe qual alternativa é economicamente adequada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Recebe propostas difíceis de comparar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Tem pouco tempo e baixa tolerância a processos longos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Precisa entender risco, prazo e economia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38528"/>
            <a:ext cx="3401568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10312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LADO DA OFERTA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4590288" y="23500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Geradores / fornecedores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2724912"/>
            <a:ext cx="29992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CAC alto e leads inelegíveis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Dados essenciais chegam incompletos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Cada proposta usa um formato diferente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Ciclo comercial e operacional é longo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1938528"/>
            <a:ext cx="3383280" cy="3090672"/>
          </a:xfrm>
          <a:prstGeom prst="roundRect">
            <a:avLst>
              <a:gd name="adj" fmla="val 2367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167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ESTRUTURAL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375904" y="254203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agente otimiza sua etapa.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75904" y="3401568"/>
            <a:ext cx="2770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B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uma camada que preserve histórico, contexto e critérios do consumidor ao longo dos ciclos de contratação.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5358384"/>
            <a:ext cx="10716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formulado: dificuldade para identificar, comparar, contratar e acompanhar a melhor configuração energética disponível para o contexto do usuário.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Milet: uma camada independente de decisão e gestão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é uma peça do sistema — não a proposta de valor inteira.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1975104" cy="290779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328416"/>
            <a:ext cx="161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Ler conta, entender contexto e descobrir rotas aplicáveis.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642616" y="31546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1993392"/>
            <a:ext cx="1975104" cy="290779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0" y="26700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Competição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108960" y="3328416"/>
            <a:ext cx="161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RFQ e comparar ofertas no mesmo padrão.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928616" y="31546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0" y="1993392"/>
            <a:ext cx="1975104" cy="2907792"/>
          </a:xfrm>
          <a:prstGeom prst="roundRect">
            <a:avLst>
              <a:gd name="adj" fmla="val 3704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94960" y="26700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3328416"/>
            <a:ext cx="161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C9B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recomendação em documentos, contrato e ativação.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214616" y="31546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0" y="1993392"/>
            <a:ext cx="1975104" cy="290779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80960" y="26700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80960" y="3328416"/>
            <a:ext cx="161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economia, acompanhar vencimentos e exceções.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9500616" y="31546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84080" y="1993392"/>
            <a:ext cx="1975104" cy="290779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212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966960" y="267004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Reotimização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966960" y="3328416"/>
            <a:ext cx="161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Reavaliar quando mercado, contrato ou consumo mudar.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14400" y="5285232"/>
            <a:ext cx="10351008" cy="548640"/>
          </a:xfrm>
          <a:prstGeom prst="roundRect">
            <a:avLst>
              <a:gd name="adj" fmla="val 13333"/>
            </a:avLst>
          </a:prstGeom>
          <a:solidFill>
            <a:srgbClr val="EFE7DA"/>
          </a:solidFill>
          <a:ln w="10160">
            <a:solidFill>
              <a:srgbClr val="EFE7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5458968"/>
            <a:ext cx="9948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Atividades reguladas continuam com agentes habilitados; a Milet organiza dados, experiência e workflow.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PERFIS DE USUÁRIO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precisa funcionar no MVP?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domínio mapeia vários atores, mas a primeira implementação é dirigida por quatro perfis diretamente ligados ao fluxo.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66944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8483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UP-01 · PERFIL PRIORITÁRIO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59536" y="2331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 / Decisor Energético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706624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 saber quanto economiza de verdade, quais riscos assume e quais passos precisa executar.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245352" y="1920240"/>
            <a:ext cx="5266944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08483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UP-03/04 · OFERTA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Gerador / Comercializadora / Fornecedor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706624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 receber RFQs qualificados, responder em padrão claro e acompanhar oportunidades.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58368" y="3712464"/>
            <a:ext cx="5266944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877056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UP-06 · OPERAÇÃO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859536" y="412394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Milet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" y="4498848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Precisa saber o que está travado, por quê, quem é responsável e quais exceções exigem ação.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45352" y="3712464"/>
            <a:ext cx="5266944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877056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UP-05 · EXECUÇÃO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446520" y="412394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EPC / Integrador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498848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Precisa de dados estruturados para qualificar projeto, estimar solução, executar e manter pós-venda.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1874520" y="5596128"/>
            <a:ext cx="150876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56509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roadmap: residencial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703320" y="5596128"/>
            <a:ext cx="169164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5650992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B2B2C / embedded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33288" y="5596128"/>
            <a:ext cx="1755648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56509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investidores / capital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818120" y="5596128"/>
            <a:ext cx="182880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56509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multi-UC / enterprise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PONTA A PONTA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jornada que o backlog precisa provar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MVP não precisa automatizar tudo. Precisa preservar a lógica e o estado do processo inteiro.</a:t>
            </a:r>
            <a:endParaRPr lang="en-US" sz="1220" dirty="0"/>
          </a:p>
        </p:txBody>
      </p:sp>
      <p:pic>
        <p:nvPicPr>
          <p:cNvPr id="5" name="Image 0" descr="/mnt/data/milet_report_assets/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28800"/>
            <a:ext cx="10771632" cy="3456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" y="5532120"/>
            <a:ext cx="10332720" cy="484632"/>
          </a:xfrm>
          <a:prstGeom prst="roundRect">
            <a:avLst>
              <a:gd name="adj" fmla="val 15094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78424"/>
            <a:ext cx="983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 de sucesso do MVP: demonstrar continuidade — não uma coleção de telas isoladas.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HISTÓRIAS QUE EXPLICAM O NÚCLEO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Stories selecionadas: da fatura à escolha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histórias resumem o primeiro “diamante” do produto: estruturar dados, decidir e criar comparação.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58368" y="1892808"/>
            <a:ext cx="2670048" cy="363931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92808"/>
            <a:ext cx="64008" cy="3639312"/>
          </a:xfrm>
          <a:prstGeom prst="rect">
            <a:avLst/>
          </a:prstGeom>
          <a:solidFill>
            <a:srgbClr val="D39B3D"/>
          </a:solidFill>
          <a:ln w="12700">
            <a:solidFill>
              <a:srgbClr val="D39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48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27048" y="20482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868680" y="236829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 uma fatura para que os dados relevantes sejam lidos automaticamente.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514807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arquivo + data + campos mínimos + incerteza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3493008" y="1892808"/>
            <a:ext cx="2670048" cy="363931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892808"/>
            <a:ext cx="64008" cy="363931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048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61688" y="20482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3703320" y="236829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quais rotas energéticas são aplicáveis ao meu perfil — e por quê.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514807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elegível/não elegível + justificativa + regra versionada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6327648" y="1892808"/>
            <a:ext cx="2670048" cy="363931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892808"/>
            <a:ext cx="64008" cy="3639312"/>
          </a:xfrm>
          <a:prstGeom prst="rect">
            <a:avLst/>
          </a:prstGeom>
          <a:solidFill>
            <a:srgbClr val="D39B3D"/>
          </a:solidFill>
          <a:ln w="12700">
            <a:solidFill>
              <a:srgbClr val="D39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48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96328" y="204825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6537960" y="236829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um RFQ a partir do Passaporte sem redigitar as mesmas informações.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514807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reuso de dados + revisão do compartilhamento + prazo/status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9162288" y="1892808"/>
            <a:ext cx="2377440" cy="3639312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62288" y="1892808"/>
            <a:ext cx="64008" cy="363931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048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US-013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30968" y="204825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9372600" y="2368296"/>
            <a:ext cx="19568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propostas lado a lado em um padrão comum.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72600" y="51480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baseline comum + economia + prazo + risco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585216" y="61996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8179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relatório contém 28 histórias e critérios de aceite detalhados; aqui aparecem apenas as que sustentam a narrativa de 10 minutos.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PÓS-COMPARAÇÃO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Stories selecionadas: da escolha ao resultado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aqui que a Milet tenta fugir da commoditização de um comparador pontual.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768096" y="1920240"/>
            <a:ext cx="3364992" cy="349300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20240"/>
            <a:ext cx="64008" cy="3493008"/>
          </a:xfrm>
          <a:prstGeom prst="rect">
            <a:avLst/>
          </a:prstGeom>
          <a:solidFill>
            <a:srgbClr val="D39B3D"/>
          </a:solidFill>
          <a:ln w="12700">
            <a:solidFill>
              <a:srgbClr val="D39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75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36776" y="20756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978408" y="2395728"/>
            <a:ext cx="294436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Acompanhar uma linha do tempo com status, responsáveis e próximos passos.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78408" y="5029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estado + responsável + prazo + eventos externos registráveis</a:t>
            </a:r>
            <a:endParaRPr lang="en-US" sz="690" dirty="0"/>
          </a:p>
        </p:txBody>
      </p:sp>
      <p:sp>
        <p:nvSpPr>
          <p:cNvPr id="11" name="Shape 9"/>
          <p:cNvSpPr/>
          <p:nvPr/>
        </p:nvSpPr>
        <p:spPr>
          <a:xfrm>
            <a:off x="4425696" y="1920240"/>
            <a:ext cx="3364992" cy="349300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920240"/>
            <a:ext cx="64008" cy="3493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075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US-021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94376" y="20756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 PME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636008" y="2395728"/>
            <a:ext cx="294436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economia prevista e realizada para verificar o resultado da decisão.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6008" y="5029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baseline preservada + faturas posteriores + diferenças explicadas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8083296" y="1920240"/>
            <a:ext cx="3364992" cy="349300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3296" y="1920240"/>
            <a:ext cx="64008" cy="3493008"/>
          </a:xfrm>
          <a:prstGeom prst="rect">
            <a:avLst/>
          </a:prstGeom>
          <a:solidFill>
            <a:srgbClr val="D39B3D"/>
          </a:solidFill>
          <a:ln w="12700">
            <a:solidFill>
              <a:srgbClr val="D39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20756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US-027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51976" y="20756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 / Auditor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8293608" y="2395728"/>
            <a:ext cx="294436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Rastrear origem dos dados, regras, versões e revisões humanas de uma decisão.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502920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 lineage + timestamps + versão de regra/modelo + revisão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1243584" y="5650992"/>
            <a:ext cx="9692640" cy="365760"/>
          </a:xfrm>
          <a:prstGeom prst="roundRect">
            <a:avLst>
              <a:gd name="adj" fmla="val 20000"/>
            </a:avLst>
          </a:prstGeom>
          <a:solidFill>
            <a:srgbClr val="EFE7DA"/>
          </a:solidFill>
          <a:ln w="10160">
            <a:solidFill>
              <a:srgbClr val="EFE7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5751576"/>
            <a:ext cx="9253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recorrente = execução visível + prova de economia + confiança auditável.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E GESTÃO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histórias no backlog. 14 no recorte P0 do MVP.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priorização protege o fluxo demonstrável de 19/10 sem perder a arquitetura de longo prazo.</a:t>
            </a:r>
            <a:endParaRPr lang="en-US" sz="1220" dirty="0"/>
          </a:p>
        </p:txBody>
      </p:sp>
      <p:pic>
        <p:nvPicPr>
          <p:cNvPr id="5" name="Image 0" descr="/mnt/data/milet_report_assets/ep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28800"/>
            <a:ext cx="6812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90688" y="1828800"/>
            <a:ext cx="37124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91856" y="19933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HISTÓRIAS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7991856" y="224028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 · MVP 19/10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91856" y="2615184"/>
            <a:ext cx="33101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 → diagnóstico → RFQ/comparação → execução → economia → auditoria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7790688" y="3063240"/>
            <a:ext cx="37124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1856" y="322783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 DO FLUXO-BASE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7991856" y="347472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· Piloto assistido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91856" y="3849624"/>
            <a:ext cx="33101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 real, consentimento, fornecedor parceiro, documentos e alertas.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790688" y="4297680"/>
            <a:ext cx="371246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91856" y="446227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7991856" y="470916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· Evolução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91856" y="5084064"/>
            <a:ext cx="33101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Autopilot contínuo, multi-UC e novos segmentos/canais.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1005840" y="5559552"/>
            <a:ext cx="1773936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61441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leve + Kanban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063240" y="5559552"/>
            <a:ext cx="109728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36392" y="561441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MoSCoW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462272" y="5559552"/>
            <a:ext cx="224028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35424" y="561441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of Ready / Done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013448" y="5559552"/>
            <a:ext cx="2103120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86600" y="56144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Fibery = fonte de verdade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9418320" y="5559552"/>
            <a:ext cx="1444752" cy="292608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91472" y="56144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= código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E PESQUISA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estado da arte mostra peças conhecidas — e uma composição a testar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contribuição não é “inventar marketplace”. É testar uma integração específica para o contexto brasileiro.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6654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 + 135 ARTIGOS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59536" y="23134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688336"/>
            <a:ext cx="223113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Revisões de mercados P2P/local mostram múltiplos atores, modelos e desafios de escala, privacidade e governança.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493008" y="1901952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06654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694176" y="23134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 privado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4176" y="2688336"/>
            <a:ext cx="223113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 Livre e Deskonta mostram que marketplace, comparação e captação de demanda já existem como categoria.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327648" y="1901952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6654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DE COMMODITIZAÇÃO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6528816" y="23134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oficial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688336"/>
            <a:ext cx="223113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Decreto 13.097/2026 exige da CCEE uma plataforma centralizada para comparação de produtos e preços.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162288" y="1901952"/>
            <a:ext cx="2377440" cy="33375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06654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EUA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9363456" y="23134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externas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63456" y="2688336"/>
            <a:ext cx="1975104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Ogre reforça gestão recorrente; EnergySage reforça cotações normalizadas e suporte à escolha.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559552"/>
            <a:ext cx="10332720" cy="41148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67842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 Milet = Passaporte + motor de rotas + RFQ + workflow + Savings Ledger + reotimização assistida.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85216" y="61996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8179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Fontes: Sousa et al. (2019); Capper et al. (2022); Schwidtal et al. (2023); UC Livre; Deskonta; Energy Ogre; EnergySage; Decreto 13.097/2026.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 v0.1: hipóteses, não conclusões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Canvas delimita onde o MVP precisa produzir evidência de produto e de negócio.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633472" cy="340156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391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SEGMENTOS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859536" y="22860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inicial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660904"/>
            <a:ext cx="223113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PMEs / empresas com custo energético relevante e baixa especialização interna.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Oferta: geradores, comercializadoras e EPCs.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1874520"/>
            <a:ext cx="2633472" cy="340156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0391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3694176" y="22860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4176" y="2660904"/>
            <a:ext cx="223113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o cenário, comparar configurações, criar competição, executar e acompanhar resultado.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1874520"/>
            <a:ext cx="2633472" cy="340156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391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MONETIZAÇÃO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6528816" y="22860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a validar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660904"/>
            <a:ext cx="223113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fee / margem transacional; assinatura Autopilot; SaaS para oferta e parceiros.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62288" y="1874520"/>
            <a:ext cx="2377440" cy="340156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9C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03911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6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9363456" y="228600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/ parceiros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63456" y="2660904"/>
            <a:ext cx="19751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decisão, Passaporte, rede de oferta, software/APIs, operação e parceiros regulados.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68096" y="55961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críticas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57400" y="5559552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segmento tem urgência?  ·  Quanto apoio humano é necessário?  ·  Qual receita preserva neutralidade?  ·  Qual recurso realmente cria defensabilidade?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EXECUÇÃO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marco: transformar o plano em um fluxo demonstrável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4264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entrega de hoje fecha o “o quê” e “por quê”. As próximas etapas validam “funciona?” e “vale a pena?”.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1143000" y="2779776"/>
            <a:ext cx="9098280" cy="0"/>
          </a:xfrm>
          <a:prstGeom prst="line">
            <a:avLst/>
          </a:prstGeom>
          <a:noFill/>
          <a:ln w="38100">
            <a:solidFill>
              <a:srgbClr val="C9B8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60320"/>
            <a:ext cx="438912" cy="438912"/>
          </a:xfrm>
          <a:prstGeom prst="ellipse">
            <a:avLst/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93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28/09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32186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Projeto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+ apresentação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2560320"/>
            <a:ext cx="438912" cy="438912"/>
          </a:xfrm>
          <a:prstGeom prst="ellipse">
            <a:avLst/>
          </a:prstGeom>
          <a:solidFill>
            <a:srgbClr val="D39B3D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993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19/10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18688" y="32186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funcional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92240" y="2560320"/>
            <a:ext cx="438912" cy="438912"/>
          </a:xfrm>
          <a:prstGeom prst="ellipse">
            <a:avLst/>
          </a:prstGeom>
          <a:solidFill>
            <a:srgbClr val="D39B3D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993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09–15/11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1888" y="32186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evidências e testes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235440" y="2560320"/>
            <a:ext cx="438912" cy="438912"/>
          </a:xfrm>
          <a:prstGeom prst="ellipse">
            <a:avLst/>
          </a:prstGeom>
          <a:solidFill>
            <a:srgbClr val="D39B3D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1993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23/11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05088" y="32186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E67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+ apresentação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2688" y="4617720"/>
            <a:ext cx="10314432" cy="1024128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016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48463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D39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MVP precisa provar uma única narrativa: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25296" y="5138928"/>
            <a:ext cx="971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 → diagnóstico → comparação → execução → economia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15568" y="5870448"/>
            <a:ext cx="9930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precisamos provar hoje que a Milet será a empresa inteira. Precisamos provar que esse ciclo pode ser melhor do que a jornada fragmentada atual.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B746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Universidade Presbiteriana Mackenzie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Milet - Plano de Projeto</dc:title>
  <dc:subject>Milet - Plano de Projeto - Projetos de Engenharia da Computação I</dc:subject>
  <dc:creator>Eduardo Ferreira de Mattos e equipe</dc:creator>
  <cp:lastModifiedBy>Eduardo Ferreira de Mattos e equipe</cp:lastModifiedBy>
  <cp:revision>1</cp:revision>
  <dcterms:created xsi:type="dcterms:W3CDTF">2026-09-28T13:06:43Z</dcterms:created>
  <dcterms:modified xsi:type="dcterms:W3CDTF">2026-09-28T13:06:43Z</dcterms:modified>
</cp:coreProperties>
</file>